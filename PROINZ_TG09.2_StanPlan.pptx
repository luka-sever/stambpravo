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1"/>
    <p:sldMasterId id="2147483696" r:id="rId2"/>
  </p:sldMasterIdLst>
  <p:notesMasterIdLst>
    <p:notesMasterId r:id="rId20"/>
  </p:notesMasterIdLst>
  <p:sldIdLst>
    <p:sldId id="265" r:id="rId3"/>
    <p:sldId id="266" r:id="rId4"/>
    <p:sldId id="267" r:id="rId5"/>
    <p:sldId id="268" r:id="rId6"/>
    <p:sldId id="276" r:id="rId7"/>
    <p:sldId id="277" r:id="rId8"/>
    <p:sldId id="269" r:id="rId9"/>
    <p:sldId id="278" r:id="rId10"/>
    <p:sldId id="261" r:id="rId11"/>
    <p:sldId id="279" r:id="rId12"/>
    <p:sldId id="280" r:id="rId13"/>
    <p:sldId id="275" r:id="rId14"/>
    <p:sldId id="260" r:id="rId15"/>
    <p:sldId id="262" r:id="rId16"/>
    <p:sldId id="274" r:id="rId17"/>
    <p:sldId id="263" r:id="rId18"/>
    <p:sldId id="26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84" autoAdjust="0"/>
    <p:restoredTop sz="95903" autoAdjust="0"/>
  </p:normalViewPr>
  <p:slideViewPr>
    <p:cSldViewPr snapToGrid="0">
      <p:cViewPr varScale="1">
        <p:scale>
          <a:sx n="109" d="100"/>
          <a:sy n="109" d="100"/>
        </p:scale>
        <p:origin x="1552" y="192"/>
      </p:cViewPr>
      <p:guideLst/>
    </p:cSldViewPr>
  </p:slideViewPr>
  <p:outlineViewPr>
    <p:cViewPr>
      <p:scale>
        <a:sx n="33" d="100"/>
        <a:sy n="33" d="100"/>
      </p:scale>
      <p:origin x="0" y="-454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548FF9-35DF-40DF-BA5D-9C77D8337DD0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F7F8330-881D-4E76-9812-6329C7A904C4}">
      <dgm:prSet custT="1"/>
      <dgm:spPr/>
      <dgm:t>
        <a:bodyPr/>
        <a:lstStyle/>
        <a:p>
          <a:pPr>
            <a:defRPr b="1"/>
          </a:pPr>
          <a:r>
            <a:rPr lang="en-GB" sz="1600" b="1" dirty="0"/>
            <a:t>Backend </a:t>
          </a:r>
          <a:r>
            <a:rPr lang="en-GB" sz="1600" b="1" dirty="0" err="1"/>
            <a:t>i</a:t>
          </a:r>
          <a:r>
            <a:rPr lang="en-GB" sz="1600" b="1" dirty="0"/>
            <a:t> </a:t>
          </a:r>
          <a:r>
            <a:rPr lang="en-GB" sz="1600" b="1" dirty="0" err="1"/>
            <a:t>Sigurnost</a:t>
          </a:r>
          <a:endParaRPr lang="en-US" sz="1600" dirty="0"/>
        </a:p>
      </dgm:t>
    </dgm:pt>
    <dgm:pt modelId="{1217BC7F-3536-4729-9582-0057E6AF6E01}" type="parTrans" cxnId="{E1EF38B5-27E1-41E7-A637-F69468CDC2B6}">
      <dgm:prSet/>
      <dgm:spPr/>
      <dgm:t>
        <a:bodyPr/>
        <a:lstStyle/>
        <a:p>
          <a:endParaRPr lang="en-US"/>
        </a:p>
      </dgm:t>
    </dgm:pt>
    <dgm:pt modelId="{BBE60208-B301-43D5-B12C-5052E08BDC53}" type="sibTrans" cxnId="{E1EF38B5-27E1-41E7-A637-F69468CDC2B6}">
      <dgm:prSet/>
      <dgm:spPr/>
      <dgm:t>
        <a:bodyPr/>
        <a:lstStyle/>
        <a:p>
          <a:endParaRPr lang="en-US"/>
        </a:p>
      </dgm:t>
    </dgm:pt>
    <dgm:pt modelId="{9250598B-B84A-43D8-9BDC-8B49A6A6EA90}">
      <dgm:prSet custT="1"/>
      <dgm:spPr/>
      <dgm:t>
        <a:bodyPr/>
        <a:lstStyle/>
        <a:p>
          <a:r>
            <a:rPr lang="en-GB" sz="1400" b="1" dirty="0"/>
            <a:t>Java 21 &amp; Spring Boot 3.5.7:</a:t>
          </a:r>
          <a:r>
            <a:rPr lang="en-GB" sz="1400" dirty="0"/>
            <a:t> </a:t>
          </a:r>
          <a:r>
            <a:rPr lang="en-GB" sz="1400" dirty="0" err="1"/>
            <a:t>Temelj</a:t>
          </a:r>
          <a:r>
            <a:rPr lang="en-GB" sz="1400" dirty="0"/>
            <a:t> </a:t>
          </a:r>
          <a:r>
            <a:rPr lang="en-GB" sz="1400" dirty="0" err="1"/>
            <a:t>sustava</a:t>
          </a:r>
          <a:r>
            <a:rPr lang="en-GB" sz="1400" dirty="0"/>
            <a:t> (REST API, Spring Data JPA).</a:t>
          </a:r>
          <a:endParaRPr lang="en-US" sz="1400" dirty="0"/>
        </a:p>
      </dgm:t>
    </dgm:pt>
    <dgm:pt modelId="{DD42949A-F8BC-4987-BF0C-757ACD99BFC4}" type="parTrans" cxnId="{7EBAF738-DE73-4D02-850A-F06E35371D1A}">
      <dgm:prSet/>
      <dgm:spPr/>
      <dgm:t>
        <a:bodyPr/>
        <a:lstStyle/>
        <a:p>
          <a:endParaRPr lang="en-US"/>
        </a:p>
      </dgm:t>
    </dgm:pt>
    <dgm:pt modelId="{750B7C0D-1CDD-4F7B-A444-F7A5CF0B9A7F}" type="sibTrans" cxnId="{7EBAF738-DE73-4D02-850A-F06E35371D1A}">
      <dgm:prSet/>
      <dgm:spPr/>
      <dgm:t>
        <a:bodyPr/>
        <a:lstStyle/>
        <a:p>
          <a:endParaRPr lang="en-US"/>
        </a:p>
      </dgm:t>
    </dgm:pt>
    <dgm:pt modelId="{F0FD3005-82D8-48DA-AAEE-30BA38061C2D}">
      <dgm:prSet custT="1"/>
      <dgm:spPr/>
      <dgm:t>
        <a:bodyPr/>
        <a:lstStyle/>
        <a:p>
          <a:r>
            <a:rPr lang="en-GB" sz="1400" b="1" dirty="0"/>
            <a:t>OAuth 2.0:</a:t>
          </a:r>
          <a:r>
            <a:rPr lang="en-GB" sz="1400" dirty="0"/>
            <a:t> </a:t>
          </a:r>
          <a:r>
            <a:rPr lang="en-GB" sz="1400" dirty="0" err="1"/>
            <a:t>Sigurna</a:t>
          </a:r>
          <a:r>
            <a:rPr lang="en-GB" sz="1400" dirty="0"/>
            <a:t> </a:t>
          </a:r>
          <a:r>
            <a:rPr lang="en-GB" sz="1400" dirty="0" err="1"/>
            <a:t>autentifikacija</a:t>
          </a:r>
          <a:r>
            <a:rPr lang="en-GB" sz="1400" dirty="0"/>
            <a:t> </a:t>
          </a:r>
          <a:r>
            <a:rPr lang="en-GB" sz="1400" dirty="0" err="1"/>
            <a:t>korisnika</a:t>
          </a:r>
          <a:r>
            <a:rPr lang="en-GB" sz="1400" dirty="0"/>
            <a:t> (Google, GitHub) bez </a:t>
          </a:r>
          <a:r>
            <a:rPr lang="en-GB" sz="1400" dirty="0" err="1"/>
            <a:t>čuvanja</a:t>
          </a:r>
          <a:r>
            <a:rPr lang="en-GB" sz="1400" dirty="0"/>
            <a:t> </a:t>
          </a:r>
          <a:r>
            <a:rPr lang="en-GB" sz="1400" dirty="0" err="1"/>
            <a:t>lozinki</a:t>
          </a:r>
          <a:r>
            <a:rPr lang="en-GB" sz="1400" dirty="0"/>
            <a:t>.</a:t>
          </a:r>
          <a:endParaRPr lang="en-US" sz="1400" dirty="0"/>
        </a:p>
      </dgm:t>
    </dgm:pt>
    <dgm:pt modelId="{187B4F81-74A1-4CD8-A4A9-D5EA16B56131}" type="parTrans" cxnId="{BCE97E76-482F-48FF-BA1A-3C64EA9DA09B}">
      <dgm:prSet/>
      <dgm:spPr/>
      <dgm:t>
        <a:bodyPr/>
        <a:lstStyle/>
        <a:p>
          <a:endParaRPr lang="en-US"/>
        </a:p>
      </dgm:t>
    </dgm:pt>
    <dgm:pt modelId="{2FD67B4C-6CE0-43D6-BC89-48F11A4FA00C}" type="sibTrans" cxnId="{BCE97E76-482F-48FF-BA1A-3C64EA9DA09B}">
      <dgm:prSet/>
      <dgm:spPr/>
      <dgm:t>
        <a:bodyPr/>
        <a:lstStyle/>
        <a:p>
          <a:endParaRPr lang="en-US"/>
        </a:p>
      </dgm:t>
    </dgm:pt>
    <dgm:pt modelId="{06BCE273-022B-49EF-BADB-A90CBD914F61}">
      <dgm:prSet custT="1"/>
      <dgm:spPr/>
      <dgm:t>
        <a:bodyPr/>
        <a:lstStyle/>
        <a:p>
          <a:pPr>
            <a:defRPr b="1"/>
          </a:pPr>
          <a:r>
            <a:rPr lang="en-GB" sz="1600" b="1" dirty="0"/>
            <a:t>Frontend</a:t>
          </a:r>
          <a:endParaRPr lang="en-US" sz="1400" dirty="0"/>
        </a:p>
      </dgm:t>
    </dgm:pt>
    <dgm:pt modelId="{C16F3F77-B776-41C1-9E5D-FAA11EEEC7E7}" type="parTrans" cxnId="{D3102D5E-5DD8-4146-A37D-0F9BAED413ED}">
      <dgm:prSet/>
      <dgm:spPr/>
      <dgm:t>
        <a:bodyPr/>
        <a:lstStyle/>
        <a:p>
          <a:endParaRPr lang="en-US"/>
        </a:p>
      </dgm:t>
    </dgm:pt>
    <dgm:pt modelId="{DDB6BC56-2053-4253-93F1-3F5AAFCA2AB5}" type="sibTrans" cxnId="{D3102D5E-5DD8-4146-A37D-0F9BAED413ED}">
      <dgm:prSet/>
      <dgm:spPr/>
      <dgm:t>
        <a:bodyPr/>
        <a:lstStyle/>
        <a:p>
          <a:endParaRPr lang="en-US"/>
        </a:p>
      </dgm:t>
    </dgm:pt>
    <dgm:pt modelId="{F9CAB5BD-2C96-4B92-917A-58751E5340E6}">
      <dgm:prSet custT="1"/>
      <dgm:spPr/>
      <dgm:t>
        <a:bodyPr/>
        <a:lstStyle/>
        <a:p>
          <a:r>
            <a:rPr lang="en-GB" sz="1400" b="1"/>
            <a:t>React 19 &amp; Vite:</a:t>
          </a:r>
          <a:r>
            <a:rPr lang="en-GB" sz="1400"/>
            <a:t> Moderna </a:t>
          </a:r>
          <a:r>
            <a:rPr lang="en-GB" sz="1400" i="1"/>
            <a:t>Single Page Application</a:t>
          </a:r>
          <a:r>
            <a:rPr lang="en-GB" sz="1400"/>
            <a:t> (SPA) s brzim učitavanjem.</a:t>
          </a:r>
          <a:endParaRPr lang="en-US" sz="1400"/>
        </a:p>
      </dgm:t>
    </dgm:pt>
    <dgm:pt modelId="{A56FA868-37A8-4413-B04C-4A15F215D69B}" type="parTrans" cxnId="{036ACD6C-9354-4276-818E-8FCFFC8A8F8B}">
      <dgm:prSet/>
      <dgm:spPr/>
      <dgm:t>
        <a:bodyPr/>
        <a:lstStyle/>
        <a:p>
          <a:endParaRPr lang="en-US"/>
        </a:p>
      </dgm:t>
    </dgm:pt>
    <dgm:pt modelId="{A62EDA5A-8580-4C8C-8E08-BF4D39088118}" type="sibTrans" cxnId="{036ACD6C-9354-4276-818E-8FCFFC8A8F8B}">
      <dgm:prSet/>
      <dgm:spPr/>
      <dgm:t>
        <a:bodyPr/>
        <a:lstStyle/>
        <a:p>
          <a:endParaRPr lang="en-US"/>
        </a:p>
      </dgm:t>
    </dgm:pt>
    <dgm:pt modelId="{DCA93D80-B736-4CB2-8463-E951399DFC79}">
      <dgm:prSet custT="1"/>
      <dgm:spPr/>
      <dgm:t>
        <a:bodyPr/>
        <a:lstStyle/>
        <a:p>
          <a:r>
            <a:rPr lang="en-GB" sz="1400" b="1" dirty="0"/>
            <a:t>JavaScript (ES2020+) &amp; CSS:</a:t>
          </a:r>
          <a:r>
            <a:rPr lang="en-GB" sz="1400" dirty="0"/>
            <a:t> </a:t>
          </a:r>
          <a:r>
            <a:rPr lang="en-GB" sz="1400" dirty="0" err="1"/>
            <a:t>Komponentni</a:t>
          </a:r>
          <a:r>
            <a:rPr lang="en-GB" sz="1400" dirty="0"/>
            <a:t> </a:t>
          </a:r>
          <a:r>
            <a:rPr lang="en-GB" sz="1400" dirty="0" err="1"/>
            <a:t>pristup</a:t>
          </a:r>
          <a:r>
            <a:rPr lang="en-GB" sz="1400" dirty="0"/>
            <a:t> </a:t>
          </a:r>
          <a:r>
            <a:rPr lang="en-GB" sz="1400" dirty="0" err="1"/>
            <a:t>dizajnu</a:t>
          </a:r>
          <a:r>
            <a:rPr lang="en-GB" sz="1400" dirty="0"/>
            <a:t> </a:t>
          </a:r>
          <a:r>
            <a:rPr lang="en-GB" sz="1400" dirty="0" err="1"/>
            <a:t>sučelja</a:t>
          </a:r>
          <a:r>
            <a:rPr lang="en-GB" sz="1400" dirty="0"/>
            <a:t>.</a:t>
          </a:r>
          <a:endParaRPr lang="en-US" sz="1400" dirty="0"/>
        </a:p>
      </dgm:t>
    </dgm:pt>
    <dgm:pt modelId="{E4B664F4-D255-4F5E-8875-A0156A7F66B3}" type="parTrans" cxnId="{380EA574-AFCD-4D28-B41E-62FE2EC83ACE}">
      <dgm:prSet/>
      <dgm:spPr/>
      <dgm:t>
        <a:bodyPr/>
        <a:lstStyle/>
        <a:p>
          <a:endParaRPr lang="en-US"/>
        </a:p>
      </dgm:t>
    </dgm:pt>
    <dgm:pt modelId="{18F2D7C4-A4CC-4EAB-9B86-4129797B8E6A}" type="sibTrans" cxnId="{380EA574-AFCD-4D28-B41E-62FE2EC83ACE}">
      <dgm:prSet/>
      <dgm:spPr/>
      <dgm:t>
        <a:bodyPr/>
        <a:lstStyle/>
        <a:p>
          <a:endParaRPr lang="en-US"/>
        </a:p>
      </dgm:t>
    </dgm:pt>
    <dgm:pt modelId="{D6E64138-EC9B-4322-ABA9-018619598A17}">
      <dgm:prSet custT="1"/>
      <dgm:spPr/>
      <dgm:t>
        <a:bodyPr/>
        <a:lstStyle/>
        <a:p>
          <a:pPr>
            <a:defRPr b="1"/>
          </a:pPr>
          <a:r>
            <a:rPr lang="en-GB" sz="1600" b="1" dirty="0"/>
            <a:t>Baza </a:t>
          </a:r>
          <a:r>
            <a:rPr lang="en-GB" sz="1600" b="1" dirty="0" err="1"/>
            <a:t>podataka</a:t>
          </a:r>
          <a:endParaRPr lang="en-US" sz="1600" dirty="0"/>
        </a:p>
      </dgm:t>
    </dgm:pt>
    <dgm:pt modelId="{2EF66ED9-43A1-4784-8BBE-CC102BFDB726}" type="parTrans" cxnId="{F2A9BD03-6AC6-4716-8CFD-ECA9A0EDE1F1}">
      <dgm:prSet/>
      <dgm:spPr/>
      <dgm:t>
        <a:bodyPr/>
        <a:lstStyle/>
        <a:p>
          <a:endParaRPr lang="en-US"/>
        </a:p>
      </dgm:t>
    </dgm:pt>
    <dgm:pt modelId="{DB77A353-E942-41F7-9298-897B319B2D47}" type="sibTrans" cxnId="{F2A9BD03-6AC6-4716-8CFD-ECA9A0EDE1F1}">
      <dgm:prSet/>
      <dgm:spPr/>
      <dgm:t>
        <a:bodyPr/>
        <a:lstStyle/>
        <a:p>
          <a:endParaRPr lang="en-US"/>
        </a:p>
      </dgm:t>
    </dgm:pt>
    <dgm:pt modelId="{945DC4ED-6275-4547-8F66-399527E270CE}">
      <dgm:prSet custT="1"/>
      <dgm:spPr/>
      <dgm:t>
        <a:bodyPr/>
        <a:lstStyle/>
        <a:p>
          <a:r>
            <a:rPr lang="en-GB" sz="1400" b="1" dirty="0"/>
            <a:t>PostgreSQL 13:</a:t>
          </a:r>
          <a:r>
            <a:rPr lang="en-GB" sz="1400" dirty="0"/>
            <a:t> </a:t>
          </a:r>
          <a:r>
            <a:rPr lang="en-GB" sz="1400" dirty="0" err="1"/>
            <a:t>Glavna</a:t>
          </a:r>
          <a:r>
            <a:rPr lang="en-GB" sz="1400" dirty="0"/>
            <a:t> </a:t>
          </a:r>
          <a:r>
            <a:rPr lang="en-GB" sz="1400" dirty="0" err="1"/>
            <a:t>relacijska</a:t>
          </a:r>
          <a:r>
            <a:rPr lang="en-GB" sz="1400" dirty="0"/>
            <a:t> </a:t>
          </a:r>
          <a:r>
            <a:rPr lang="en-GB" sz="1400" dirty="0" err="1"/>
            <a:t>baza</a:t>
          </a:r>
          <a:r>
            <a:rPr lang="en-GB" sz="1400" dirty="0"/>
            <a:t> za </a:t>
          </a:r>
          <a:r>
            <a:rPr lang="en-GB" sz="1400" dirty="0" err="1"/>
            <a:t>produkciju</a:t>
          </a:r>
          <a:r>
            <a:rPr lang="en-GB" sz="1400" dirty="0"/>
            <a:t> (</a:t>
          </a:r>
          <a:r>
            <a:rPr lang="en-GB" sz="1400" dirty="0" err="1"/>
            <a:t>podaci</a:t>
          </a:r>
          <a:r>
            <a:rPr lang="en-GB" sz="1400" dirty="0"/>
            <a:t> o </a:t>
          </a:r>
          <a:r>
            <a:rPr lang="en-GB" sz="1400" dirty="0" err="1"/>
            <a:t>stanarima</a:t>
          </a:r>
          <a:r>
            <a:rPr lang="en-GB" sz="1400" dirty="0"/>
            <a:t>, </a:t>
          </a:r>
          <a:r>
            <a:rPr lang="en-GB" sz="1400" dirty="0" err="1"/>
            <a:t>sastancima</a:t>
          </a:r>
          <a:r>
            <a:rPr lang="en-GB" sz="1400" dirty="0"/>
            <a:t>).</a:t>
          </a:r>
          <a:endParaRPr lang="en-US" sz="1400" dirty="0"/>
        </a:p>
      </dgm:t>
    </dgm:pt>
    <dgm:pt modelId="{6E59AD89-248D-4E9D-BE72-41B451D62723}" type="parTrans" cxnId="{451FD402-438A-45B2-946E-FE3888EE71C9}">
      <dgm:prSet/>
      <dgm:spPr/>
      <dgm:t>
        <a:bodyPr/>
        <a:lstStyle/>
        <a:p>
          <a:endParaRPr lang="en-US"/>
        </a:p>
      </dgm:t>
    </dgm:pt>
    <dgm:pt modelId="{DEDCF48E-D044-4107-8B5C-D14D3BE5704A}" type="sibTrans" cxnId="{451FD402-438A-45B2-946E-FE3888EE71C9}">
      <dgm:prSet/>
      <dgm:spPr/>
      <dgm:t>
        <a:bodyPr/>
        <a:lstStyle/>
        <a:p>
          <a:endParaRPr lang="en-US"/>
        </a:p>
      </dgm:t>
    </dgm:pt>
    <dgm:pt modelId="{2CEDD23B-6A37-4ABD-BFE8-07448D27FE9A}">
      <dgm:prSet custT="1"/>
      <dgm:spPr/>
      <dgm:t>
        <a:bodyPr/>
        <a:lstStyle/>
        <a:p>
          <a:r>
            <a:rPr lang="en-GB" sz="1400" b="1" dirty="0"/>
            <a:t>H2 Database:</a:t>
          </a:r>
          <a:r>
            <a:rPr lang="en-GB" sz="1400" dirty="0"/>
            <a:t> In-memory </a:t>
          </a:r>
          <a:r>
            <a:rPr lang="en-GB" sz="1400" dirty="0" err="1"/>
            <a:t>baza</a:t>
          </a:r>
          <a:r>
            <a:rPr lang="en-GB" sz="1400" dirty="0"/>
            <a:t> za </a:t>
          </a:r>
          <a:r>
            <a:rPr lang="en-GB" sz="1400" dirty="0" err="1"/>
            <a:t>brzo</a:t>
          </a:r>
          <a:r>
            <a:rPr lang="en-GB" sz="1400" dirty="0"/>
            <a:t> </a:t>
          </a:r>
          <a:r>
            <a:rPr lang="en-GB" sz="1400" dirty="0" err="1"/>
            <a:t>i</a:t>
          </a:r>
          <a:r>
            <a:rPr lang="en-GB" sz="1400" dirty="0"/>
            <a:t> </a:t>
          </a:r>
          <a:r>
            <a:rPr lang="en-GB" sz="1400" dirty="0" err="1"/>
            <a:t>izolirano</a:t>
          </a:r>
          <a:r>
            <a:rPr lang="en-GB" sz="1400" dirty="0"/>
            <a:t> </a:t>
          </a:r>
          <a:r>
            <a:rPr lang="en-GB" sz="1400" dirty="0" err="1"/>
            <a:t>testiranje</a:t>
          </a:r>
          <a:r>
            <a:rPr lang="en-GB" sz="1400" dirty="0"/>
            <a:t>.</a:t>
          </a:r>
          <a:endParaRPr lang="en-US" sz="1400" dirty="0"/>
        </a:p>
      </dgm:t>
    </dgm:pt>
    <dgm:pt modelId="{E88734CF-598A-48F2-AA48-65EE7724023A}" type="parTrans" cxnId="{B2A34DBB-52A1-4E31-90D9-29BEA3B2AA7E}">
      <dgm:prSet/>
      <dgm:spPr/>
      <dgm:t>
        <a:bodyPr/>
        <a:lstStyle/>
        <a:p>
          <a:endParaRPr lang="en-US"/>
        </a:p>
      </dgm:t>
    </dgm:pt>
    <dgm:pt modelId="{13917C14-6BDF-405F-8A92-7E1BA42F2CE3}" type="sibTrans" cxnId="{B2A34DBB-52A1-4E31-90D9-29BEA3B2AA7E}">
      <dgm:prSet/>
      <dgm:spPr/>
      <dgm:t>
        <a:bodyPr/>
        <a:lstStyle/>
        <a:p>
          <a:endParaRPr lang="en-US"/>
        </a:p>
      </dgm:t>
    </dgm:pt>
    <dgm:pt modelId="{561BE227-6443-411A-BEA7-9F23BD6507A2}">
      <dgm:prSet custT="1"/>
      <dgm:spPr/>
      <dgm:t>
        <a:bodyPr/>
        <a:lstStyle/>
        <a:p>
          <a:pPr>
            <a:defRPr b="1"/>
          </a:pPr>
          <a:r>
            <a:rPr lang="en-GB" sz="1600" b="1" dirty="0"/>
            <a:t>DevOps, </a:t>
          </a:r>
          <a:r>
            <a:rPr lang="en-GB" sz="1600" b="1" dirty="0" err="1"/>
            <a:t>Testiranje</a:t>
          </a:r>
          <a:r>
            <a:rPr lang="en-GB" sz="1600" b="1" dirty="0"/>
            <a:t> </a:t>
          </a:r>
          <a:r>
            <a:rPr lang="en-GB" sz="1600" b="1" dirty="0" err="1"/>
            <a:t>i</a:t>
          </a:r>
          <a:r>
            <a:rPr lang="en-GB" sz="1600" b="1" dirty="0"/>
            <a:t> Alati</a:t>
          </a:r>
          <a:endParaRPr lang="en-US" sz="1600" dirty="0"/>
        </a:p>
      </dgm:t>
    </dgm:pt>
    <dgm:pt modelId="{81609715-161F-4663-B35D-66D8D7C83F23}" type="parTrans" cxnId="{E95E9E24-37E5-4EF6-8A90-758BC61B8BF5}">
      <dgm:prSet/>
      <dgm:spPr/>
      <dgm:t>
        <a:bodyPr/>
        <a:lstStyle/>
        <a:p>
          <a:endParaRPr lang="en-US"/>
        </a:p>
      </dgm:t>
    </dgm:pt>
    <dgm:pt modelId="{3373B73A-03CA-4C88-9CE8-3072D1AB5690}" type="sibTrans" cxnId="{E95E9E24-37E5-4EF6-8A90-758BC61B8BF5}">
      <dgm:prSet/>
      <dgm:spPr/>
      <dgm:t>
        <a:bodyPr/>
        <a:lstStyle/>
        <a:p>
          <a:endParaRPr lang="en-US"/>
        </a:p>
      </dgm:t>
    </dgm:pt>
    <dgm:pt modelId="{B2070E81-25DE-4AC3-8284-CAA6310917A6}">
      <dgm:prSet custT="1"/>
      <dgm:spPr/>
      <dgm:t>
        <a:bodyPr/>
        <a:lstStyle/>
        <a:p>
          <a:r>
            <a:rPr lang="en-GB" sz="1400" b="1" dirty="0"/>
            <a:t>Docker:</a:t>
          </a:r>
          <a:r>
            <a:rPr lang="en-GB" sz="1400" dirty="0"/>
            <a:t> </a:t>
          </a:r>
          <a:r>
            <a:rPr lang="en-GB" sz="1400" dirty="0" err="1"/>
            <a:t>Kontejnerizacija</a:t>
          </a:r>
          <a:r>
            <a:rPr lang="en-GB" sz="1400" dirty="0"/>
            <a:t> </a:t>
          </a:r>
          <a:r>
            <a:rPr lang="en-GB" sz="1400" dirty="0" err="1"/>
            <a:t>aplikacije</a:t>
          </a:r>
          <a:r>
            <a:rPr lang="en-GB" sz="1400" dirty="0"/>
            <a:t> (Nginx za frontend, JAR za backend) </a:t>
          </a:r>
          <a:r>
            <a:rPr lang="en-GB" sz="1400" dirty="0" err="1"/>
            <a:t>radi</a:t>
          </a:r>
          <a:r>
            <a:rPr lang="en-GB" sz="1400" dirty="0"/>
            <a:t> </a:t>
          </a:r>
          <a:r>
            <a:rPr lang="en-GB" sz="1400" dirty="0" err="1"/>
            <a:t>lakšeg</a:t>
          </a:r>
          <a:r>
            <a:rPr lang="en-GB" sz="1400" dirty="0"/>
            <a:t> </a:t>
          </a:r>
          <a:r>
            <a:rPr lang="en-GB" sz="1400" dirty="0" err="1"/>
            <a:t>razmještaja</a:t>
          </a:r>
          <a:r>
            <a:rPr lang="en-GB" sz="1400" dirty="0"/>
            <a:t>.</a:t>
          </a:r>
          <a:endParaRPr lang="en-US" sz="1400" dirty="0"/>
        </a:p>
      </dgm:t>
    </dgm:pt>
    <dgm:pt modelId="{AC29A5AE-2193-4AD3-8EB2-977D0D74A564}" type="parTrans" cxnId="{C28A3EE7-24A3-45EE-A714-BA6B4D609926}">
      <dgm:prSet/>
      <dgm:spPr/>
      <dgm:t>
        <a:bodyPr/>
        <a:lstStyle/>
        <a:p>
          <a:endParaRPr lang="en-US"/>
        </a:p>
      </dgm:t>
    </dgm:pt>
    <dgm:pt modelId="{D9C22835-E5DE-415A-8B51-9FF9186E10DE}" type="sibTrans" cxnId="{C28A3EE7-24A3-45EE-A714-BA6B4D609926}">
      <dgm:prSet/>
      <dgm:spPr/>
      <dgm:t>
        <a:bodyPr/>
        <a:lstStyle/>
        <a:p>
          <a:endParaRPr lang="en-US"/>
        </a:p>
      </dgm:t>
    </dgm:pt>
    <dgm:pt modelId="{E8316849-CEEF-4FB0-9AB1-DEEE08713B85}">
      <dgm:prSet custT="1"/>
      <dgm:spPr/>
      <dgm:t>
        <a:bodyPr/>
        <a:lstStyle/>
        <a:p>
          <a:r>
            <a:rPr lang="en-GB" sz="1400" b="1" dirty="0"/>
            <a:t>JUnit &amp; Selenium:</a:t>
          </a:r>
          <a:r>
            <a:rPr lang="en-GB" sz="1400" dirty="0"/>
            <a:t> </a:t>
          </a:r>
          <a:r>
            <a:rPr lang="en-GB" sz="1400" dirty="0" err="1"/>
            <a:t>Automatizirano</a:t>
          </a:r>
          <a:r>
            <a:rPr lang="en-GB" sz="1400" dirty="0"/>
            <a:t> </a:t>
          </a:r>
          <a:r>
            <a:rPr lang="en-GB" sz="1400" dirty="0" err="1"/>
            <a:t>jedinično</a:t>
          </a:r>
          <a:r>
            <a:rPr lang="en-GB" sz="1400" dirty="0"/>
            <a:t> (Unit) </a:t>
          </a:r>
          <a:r>
            <a:rPr lang="en-GB" sz="1400" dirty="0" err="1"/>
            <a:t>i</a:t>
          </a:r>
          <a:r>
            <a:rPr lang="en-GB" sz="1400" dirty="0"/>
            <a:t> UI </a:t>
          </a:r>
          <a:r>
            <a:rPr lang="en-GB" sz="1400" dirty="0" err="1"/>
            <a:t>testiranje</a:t>
          </a:r>
          <a:r>
            <a:rPr lang="en-GB" sz="1400" dirty="0"/>
            <a:t>.</a:t>
          </a:r>
          <a:endParaRPr lang="en-US" sz="1400" dirty="0"/>
        </a:p>
      </dgm:t>
    </dgm:pt>
    <dgm:pt modelId="{9DCAD504-08E1-4166-8FDC-D6744F38B377}" type="parTrans" cxnId="{3ECCC9FD-062F-4DA6-830E-669299AB77FE}">
      <dgm:prSet/>
      <dgm:spPr/>
      <dgm:t>
        <a:bodyPr/>
        <a:lstStyle/>
        <a:p>
          <a:endParaRPr lang="en-US"/>
        </a:p>
      </dgm:t>
    </dgm:pt>
    <dgm:pt modelId="{C7F90D61-FDD1-4065-A116-8E2A9E8D7B83}" type="sibTrans" cxnId="{3ECCC9FD-062F-4DA6-830E-669299AB77FE}">
      <dgm:prSet/>
      <dgm:spPr/>
      <dgm:t>
        <a:bodyPr/>
        <a:lstStyle/>
        <a:p>
          <a:endParaRPr lang="en-US"/>
        </a:p>
      </dgm:t>
    </dgm:pt>
    <dgm:pt modelId="{138D2AC4-432C-4A9D-8660-D904579FF166}">
      <dgm:prSet custT="1"/>
      <dgm:spPr/>
      <dgm:t>
        <a:bodyPr/>
        <a:lstStyle/>
        <a:p>
          <a:r>
            <a:rPr lang="en-GB" sz="1400" b="1" dirty="0"/>
            <a:t>Git &amp; GitHub:</a:t>
          </a:r>
          <a:r>
            <a:rPr lang="en-GB" sz="1400" dirty="0"/>
            <a:t> </a:t>
          </a:r>
          <a:r>
            <a:rPr lang="en-GB" sz="1400" dirty="0" err="1"/>
            <a:t>Verzioniranje</a:t>
          </a:r>
          <a:r>
            <a:rPr lang="en-GB" sz="1400" dirty="0"/>
            <a:t> </a:t>
          </a:r>
          <a:r>
            <a:rPr lang="en-GB" sz="1400" dirty="0" err="1"/>
            <a:t>koda</a:t>
          </a:r>
          <a:r>
            <a:rPr lang="en-GB" sz="1400" dirty="0"/>
            <a:t> </a:t>
          </a:r>
          <a:r>
            <a:rPr lang="en-GB" sz="1400" dirty="0" err="1"/>
            <a:t>i</a:t>
          </a:r>
          <a:r>
            <a:rPr lang="en-GB" sz="1400" dirty="0"/>
            <a:t> CI/CD.</a:t>
          </a:r>
          <a:endParaRPr lang="en-US" sz="1400" dirty="0"/>
        </a:p>
      </dgm:t>
    </dgm:pt>
    <dgm:pt modelId="{9CA20085-BC82-424D-8488-B5BAE09AD4F0}" type="parTrans" cxnId="{C3F13A6B-BEB7-4975-BCEE-C33054591024}">
      <dgm:prSet/>
      <dgm:spPr/>
      <dgm:t>
        <a:bodyPr/>
        <a:lstStyle/>
        <a:p>
          <a:endParaRPr lang="en-US"/>
        </a:p>
      </dgm:t>
    </dgm:pt>
    <dgm:pt modelId="{C7B7B780-8854-4DF7-8E0C-4742B69E54CA}" type="sibTrans" cxnId="{C3F13A6B-BEB7-4975-BCEE-C33054591024}">
      <dgm:prSet/>
      <dgm:spPr/>
      <dgm:t>
        <a:bodyPr/>
        <a:lstStyle/>
        <a:p>
          <a:endParaRPr lang="en-US"/>
        </a:p>
      </dgm:t>
    </dgm:pt>
    <dgm:pt modelId="{E2564D12-C7B6-45DC-A2C4-B3AF56279890}" type="pres">
      <dgm:prSet presAssocID="{85548FF9-35DF-40DF-BA5D-9C77D8337DD0}" presName="root" presStyleCnt="0">
        <dgm:presLayoutVars>
          <dgm:dir/>
          <dgm:resizeHandles val="exact"/>
        </dgm:presLayoutVars>
      </dgm:prSet>
      <dgm:spPr/>
    </dgm:pt>
    <dgm:pt modelId="{CF009DB3-61A6-4768-8CE9-16B2A312ED1C}" type="pres">
      <dgm:prSet presAssocID="{8F7F8330-881D-4E76-9812-6329C7A904C4}" presName="compNode" presStyleCnt="0"/>
      <dgm:spPr/>
    </dgm:pt>
    <dgm:pt modelId="{22112FC7-10B5-41D7-898D-AEFAAF1EAF52}" type="pres">
      <dgm:prSet presAssocID="{8F7F8330-881D-4E76-9812-6329C7A904C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CF45DAA5-C41E-4D94-BE18-A5AFA4306E8B}" type="pres">
      <dgm:prSet presAssocID="{8F7F8330-881D-4E76-9812-6329C7A904C4}" presName="iconSpace" presStyleCnt="0"/>
      <dgm:spPr/>
    </dgm:pt>
    <dgm:pt modelId="{B04A4CF4-6F6C-40E5-A65A-E22779E32807}" type="pres">
      <dgm:prSet presAssocID="{8F7F8330-881D-4E76-9812-6329C7A904C4}" presName="parTx" presStyleLbl="revTx" presStyleIdx="0" presStyleCnt="8">
        <dgm:presLayoutVars>
          <dgm:chMax val="0"/>
          <dgm:chPref val="0"/>
        </dgm:presLayoutVars>
      </dgm:prSet>
      <dgm:spPr/>
    </dgm:pt>
    <dgm:pt modelId="{D2592A51-4F72-4EB9-AA84-BD8EF39754B5}" type="pres">
      <dgm:prSet presAssocID="{8F7F8330-881D-4E76-9812-6329C7A904C4}" presName="txSpace" presStyleCnt="0"/>
      <dgm:spPr/>
    </dgm:pt>
    <dgm:pt modelId="{5C1A7DEB-9F69-42AA-967E-8C6C29D701A0}" type="pres">
      <dgm:prSet presAssocID="{8F7F8330-881D-4E76-9812-6329C7A904C4}" presName="desTx" presStyleLbl="revTx" presStyleIdx="1" presStyleCnt="8">
        <dgm:presLayoutVars/>
      </dgm:prSet>
      <dgm:spPr/>
    </dgm:pt>
    <dgm:pt modelId="{EA61CBF3-569F-4BB3-B071-4F4B561F37F3}" type="pres">
      <dgm:prSet presAssocID="{BBE60208-B301-43D5-B12C-5052E08BDC53}" presName="sibTrans" presStyleCnt="0"/>
      <dgm:spPr/>
    </dgm:pt>
    <dgm:pt modelId="{10EFEAD0-DCB6-44C3-BEEC-A1B22C027133}" type="pres">
      <dgm:prSet presAssocID="{06BCE273-022B-49EF-BADB-A90CBD914F61}" presName="compNode" presStyleCnt="0"/>
      <dgm:spPr/>
    </dgm:pt>
    <dgm:pt modelId="{C86FFF5E-5498-4508-A3C3-1C43E3545597}" type="pres">
      <dgm:prSet presAssocID="{06BCE273-022B-49EF-BADB-A90CBD914F6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162A334E-0971-4475-86AD-C031C3D9982D}" type="pres">
      <dgm:prSet presAssocID="{06BCE273-022B-49EF-BADB-A90CBD914F61}" presName="iconSpace" presStyleCnt="0"/>
      <dgm:spPr/>
    </dgm:pt>
    <dgm:pt modelId="{045CB7BD-F65E-4580-B3DA-515F0DB9C9D8}" type="pres">
      <dgm:prSet presAssocID="{06BCE273-022B-49EF-BADB-A90CBD914F61}" presName="parTx" presStyleLbl="revTx" presStyleIdx="2" presStyleCnt="8">
        <dgm:presLayoutVars>
          <dgm:chMax val="0"/>
          <dgm:chPref val="0"/>
        </dgm:presLayoutVars>
      </dgm:prSet>
      <dgm:spPr/>
    </dgm:pt>
    <dgm:pt modelId="{753F5661-B28F-40F5-BCF5-1A4D85572522}" type="pres">
      <dgm:prSet presAssocID="{06BCE273-022B-49EF-BADB-A90CBD914F61}" presName="txSpace" presStyleCnt="0"/>
      <dgm:spPr/>
    </dgm:pt>
    <dgm:pt modelId="{18E8E2DC-1152-43EC-A753-2D26DC669DE2}" type="pres">
      <dgm:prSet presAssocID="{06BCE273-022B-49EF-BADB-A90CBD914F61}" presName="desTx" presStyleLbl="revTx" presStyleIdx="3" presStyleCnt="8">
        <dgm:presLayoutVars/>
      </dgm:prSet>
      <dgm:spPr/>
    </dgm:pt>
    <dgm:pt modelId="{FD557F7C-9F97-4B82-97A9-1C1DB1EE9C1E}" type="pres">
      <dgm:prSet presAssocID="{DDB6BC56-2053-4253-93F1-3F5AAFCA2AB5}" presName="sibTrans" presStyleCnt="0"/>
      <dgm:spPr/>
    </dgm:pt>
    <dgm:pt modelId="{704FFE9E-65C6-42AB-859E-79FCC6A96696}" type="pres">
      <dgm:prSet presAssocID="{D6E64138-EC9B-4322-ABA9-018619598A17}" presName="compNode" presStyleCnt="0"/>
      <dgm:spPr/>
    </dgm:pt>
    <dgm:pt modelId="{1FA48223-1455-4A13-ABEF-B212EC86DBE2}" type="pres">
      <dgm:prSet presAssocID="{D6E64138-EC9B-4322-ABA9-018619598A1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8492D32C-8C20-4A0B-A276-AB3CA1299B95}" type="pres">
      <dgm:prSet presAssocID="{D6E64138-EC9B-4322-ABA9-018619598A17}" presName="iconSpace" presStyleCnt="0"/>
      <dgm:spPr/>
    </dgm:pt>
    <dgm:pt modelId="{85C6B07E-FC04-472E-B0C4-B547CED880C4}" type="pres">
      <dgm:prSet presAssocID="{D6E64138-EC9B-4322-ABA9-018619598A17}" presName="parTx" presStyleLbl="revTx" presStyleIdx="4" presStyleCnt="8">
        <dgm:presLayoutVars>
          <dgm:chMax val="0"/>
          <dgm:chPref val="0"/>
        </dgm:presLayoutVars>
      </dgm:prSet>
      <dgm:spPr/>
    </dgm:pt>
    <dgm:pt modelId="{81F5F0C2-FF69-4200-8C91-B3D33F7E53C7}" type="pres">
      <dgm:prSet presAssocID="{D6E64138-EC9B-4322-ABA9-018619598A17}" presName="txSpace" presStyleCnt="0"/>
      <dgm:spPr/>
    </dgm:pt>
    <dgm:pt modelId="{B5874AAF-103C-49A8-BE92-A56FE61A600F}" type="pres">
      <dgm:prSet presAssocID="{D6E64138-EC9B-4322-ABA9-018619598A17}" presName="desTx" presStyleLbl="revTx" presStyleIdx="5" presStyleCnt="8">
        <dgm:presLayoutVars/>
      </dgm:prSet>
      <dgm:spPr/>
    </dgm:pt>
    <dgm:pt modelId="{9A4A819C-A768-4C13-A726-A310AC7F14FF}" type="pres">
      <dgm:prSet presAssocID="{DB77A353-E942-41F7-9298-897B319B2D47}" presName="sibTrans" presStyleCnt="0"/>
      <dgm:spPr/>
    </dgm:pt>
    <dgm:pt modelId="{52C09B64-CBB6-45F7-BE4B-F81B8912C3AC}" type="pres">
      <dgm:prSet presAssocID="{561BE227-6443-411A-BEA7-9F23BD6507A2}" presName="compNode" presStyleCnt="0"/>
      <dgm:spPr/>
    </dgm:pt>
    <dgm:pt modelId="{4BCA10E8-6BC7-47CA-9C9A-C99B6156A45B}" type="pres">
      <dgm:prSet presAssocID="{561BE227-6443-411A-BEA7-9F23BD6507A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05C2D7EB-B91C-478C-BA86-1C3C1FA98D67}" type="pres">
      <dgm:prSet presAssocID="{561BE227-6443-411A-BEA7-9F23BD6507A2}" presName="iconSpace" presStyleCnt="0"/>
      <dgm:spPr/>
    </dgm:pt>
    <dgm:pt modelId="{23B79996-B22E-47F3-AF04-7E823D5DC6E3}" type="pres">
      <dgm:prSet presAssocID="{561BE227-6443-411A-BEA7-9F23BD6507A2}" presName="parTx" presStyleLbl="revTx" presStyleIdx="6" presStyleCnt="8">
        <dgm:presLayoutVars>
          <dgm:chMax val="0"/>
          <dgm:chPref val="0"/>
        </dgm:presLayoutVars>
      </dgm:prSet>
      <dgm:spPr/>
    </dgm:pt>
    <dgm:pt modelId="{44EAFBBB-4498-49AA-B1EA-034C63240DB6}" type="pres">
      <dgm:prSet presAssocID="{561BE227-6443-411A-BEA7-9F23BD6507A2}" presName="txSpace" presStyleCnt="0"/>
      <dgm:spPr/>
    </dgm:pt>
    <dgm:pt modelId="{71DD7B17-E105-4B44-A135-5E3E4D51CF1C}" type="pres">
      <dgm:prSet presAssocID="{561BE227-6443-411A-BEA7-9F23BD6507A2}" presName="desTx" presStyleLbl="revTx" presStyleIdx="7" presStyleCnt="8">
        <dgm:presLayoutVars/>
      </dgm:prSet>
      <dgm:spPr/>
    </dgm:pt>
  </dgm:ptLst>
  <dgm:cxnLst>
    <dgm:cxn modelId="{451FD402-438A-45B2-946E-FE3888EE71C9}" srcId="{D6E64138-EC9B-4322-ABA9-018619598A17}" destId="{945DC4ED-6275-4547-8F66-399527E270CE}" srcOrd="0" destOrd="0" parTransId="{6E59AD89-248D-4E9D-BE72-41B451D62723}" sibTransId="{DEDCF48E-D044-4107-8B5C-D14D3BE5704A}"/>
    <dgm:cxn modelId="{F2A9BD03-6AC6-4716-8CFD-ECA9A0EDE1F1}" srcId="{85548FF9-35DF-40DF-BA5D-9C77D8337DD0}" destId="{D6E64138-EC9B-4322-ABA9-018619598A17}" srcOrd="2" destOrd="0" parTransId="{2EF66ED9-43A1-4784-8BBE-CC102BFDB726}" sibTransId="{DB77A353-E942-41F7-9298-897B319B2D47}"/>
    <dgm:cxn modelId="{EB6A1214-1865-499B-812A-40FF4EEEFF40}" type="presOf" srcId="{945DC4ED-6275-4547-8F66-399527E270CE}" destId="{B5874AAF-103C-49A8-BE92-A56FE61A600F}" srcOrd="0" destOrd="0" presId="urn:microsoft.com/office/officeart/2018/2/layout/IconLabelDescriptionList"/>
    <dgm:cxn modelId="{E95E9E24-37E5-4EF6-8A90-758BC61B8BF5}" srcId="{85548FF9-35DF-40DF-BA5D-9C77D8337DD0}" destId="{561BE227-6443-411A-BEA7-9F23BD6507A2}" srcOrd="3" destOrd="0" parTransId="{81609715-161F-4663-B35D-66D8D7C83F23}" sibTransId="{3373B73A-03CA-4C88-9CE8-3072D1AB5690}"/>
    <dgm:cxn modelId="{67D2D728-9462-4D89-9695-3B0C85B7937E}" type="presOf" srcId="{85548FF9-35DF-40DF-BA5D-9C77D8337DD0}" destId="{E2564D12-C7B6-45DC-A2C4-B3AF56279890}" srcOrd="0" destOrd="0" presId="urn:microsoft.com/office/officeart/2018/2/layout/IconLabelDescriptionList"/>
    <dgm:cxn modelId="{7EBAF738-DE73-4D02-850A-F06E35371D1A}" srcId="{8F7F8330-881D-4E76-9812-6329C7A904C4}" destId="{9250598B-B84A-43D8-9BDC-8B49A6A6EA90}" srcOrd="0" destOrd="0" parTransId="{DD42949A-F8BC-4987-BF0C-757ACD99BFC4}" sibTransId="{750B7C0D-1CDD-4F7B-A444-F7A5CF0B9A7F}"/>
    <dgm:cxn modelId="{A1EA5F5C-C256-47AD-AF6B-239E0B881F5D}" type="presOf" srcId="{06BCE273-022B-49EF-BADB-A90CBD914F61}" destId="{045CB7BD-F65E-4580-B3DA-515F0DB9C9D8}" srcOrd="0" destOrd="0" presId="urn:microsoft.com/office/officeart/2018/2/layout/IconLabelDescriptionList"/>
    <dgm:cxn modelId="{D3102D5E-5DD8-4146-A37D-0F9BAED413ED}" srcId="{85548FF9-35DF-40DF-BA5D-9C77D8337DD0}" destId="{06BCE273-022B-49EF-BADB-A90CBD914F61}" srcOrd="1" destOrd="0" parTransId="{C16F3F77-B776-41C1-9E5D-FAA11EEEC7E7}" sibTransId="{DDB6BC56-2053-4253-93F1-3F5AAFCA2AB5}"/>
    <dgm:cxn modelId="{C3F13A6B-BEB7-4975-BCEE-C33054591024}" srcId="{561BE227-6443-411A-BEA7-9F23BD6507A2}" destId="{138D2AC4-432C-4A9D-8660-D904579FF166}" srcOrd="2" destOrd="0" parTransId="{9CA20085-BC82-424D-8488-B5BAE09AD4F0}" sibTransId="{C7B7B780-8854-4DF7-8E0C-4742B69E54CA}"/>
    <dgm:cxn modelId="{036ACD6C-9354-4276-818E-8FCFFC8A8F8B}" srcId="{06BCE273-022B-49EF-BADB-A90CBD914F61}" destId="{F9CAB5BD-2C96-4B92-917A-58751E5340E6}" srcOrd="0" destOrd="0" parTransId="{A56FA868-37A8-4413-B04C-4A15F215D69B}" sibTransId="{A62EDA5A-8580-4C8C-8E08-BF4D39088118}"/>
    <dgm:cxn modelId="{09B98B73-AB0B-4C0E-926E-6B922283588E}" type="presOf" srcId="{138D2AC4-432C-4A9D-8660-D904579FF166}" destId="{71DD7B17-E105-4B44-A135-5E3E4D51CF1C}" srcOrd="0" destOrd="2" presId="urn:microsoft.com/office/officeart/2018/2/layout/IconLabelDescriptionList"/>
    <dgm:cxn modelId="{380EA574-AFCD-4D28-B41E-62FE2EC83ACE}" srcId="{06BCE273-022B-49EF-BADB-A90CBD914F61}" destId="{DCA93D80-B736-4CB2-8463-E951399DFC79}" srcOrd="1" destOrd="0" parTransId="{E4B664F4-D255-4F5E-8875-A0156A7F66B3}" sibTransId="{18F2D7C4-A4CC-4EAB-9B86-4129797B8E6A}"/>
    <dgm:cxn modelId="{BCE97E76-482F-48FF-BA1A-3C64EA9DA09B}" srcId="{8F7F8330-881D-4E76-9812-6329C7A904C4}" destId="{F0FD3005-82D8-48DA-AAEE-30BA38061C2D}" srcOrd="1" destOrd="0" parTransId="{187B4F81-74A1-4CD8-A4A9-D5EA16B56131}" sibTransId="{2FD67B4C-6CE0-43D6-BC89-48F11A4FA00C}"/>
    <dgm:cxn modelId="{5CD11578-F3D4-4FA6-A676-3CA2C4068A27}" type="presOf" srcId="{561BE227-6443-411A-BEA7-9F23BD6507A2}" destId="{23B79996-B22E-47F3-AF04-7E823D5DC6E3}" srcOrd="0" destOrd="0" presId="urn:microsoft.com/office/officeart/2018/2/layout/IconLabelDescriptionList"/>
    <dgm:cxn modelId="{9A6F847B-DB0F-49BF-A0B6-13A159F43999}" type="presOf" srcId="{2CEDD23B-6A37-4ABD-BFE8-07448D27FE9A}" destId="{B5874AAF-103C-49A8-BE92-A56FE61A600F}" srcOrd="0" destOrd="1" presId="urn:microsoft.com/office/officeart/2018/2/layout/IconLabelDescriptionList"/>
    <dgm:cxn modelId="{DF94647C-049A-400D-8D9E-E3D21FC3A26E}" type="presOf" srcId="{B2070E81-25DE-4AC3-8284-CAA6310917A6}" destId="{71DD7B17-E105-4B44-A135-5E3E4D51CF1C}" srcOrd="0" destOrd="0" presId="urn:microsoft.com/office/officeart/2018/2/layout/IconLabelDescriptionList"/>
    <dgm:cxn modelId="{77697C81-A125-4E61-81A9-4E44C8811174}" type="presOf" srcId="{E8316849-CEEF-4FB0-9AB1-DEEE08713B85}" destId="{71DD7B17-E105-4B44-A135-5E3E4D51CF1C}" srcOrd="0" destOrd="1" presId="urn:microsoft.com/office/officeart/2018/2/layout/IconLabelDescriptionList"/>
    <dgm:cxn modelId="{A1BAAF8B-2274-4722-97BE-D481AA7CBF5A}" type="presOf" srcId="{D6E64138-EC9B-4322-ABA9-018619598A17}" destId="{85C6B07E-FC04-472E-B0C4-B547CED880C4}" srcOrd="0" destOrd="0" presId="urn:microsoft.com/office/officeart/2018/2/layout/IconLabelDescriptionList"/>
    <dgm:cxn modelId="{3DBB8799-01A4-4C8E-80F4-9C2FECDDCCB4}" type="presOf" srcId="{8F7F8330-881D-4E76-9812-6329C7A904C4}" destId="{B04A4CF4-6F6C-40E5-A65A-E22779E32807}" srcOrd="0" destOrd="0" presId="urn:microsoft.com/office/officeart/2018/2/layout/IconLabelDescriptionList"/>
    <dgm:cxn modelId="{E1EF38B5-27E1-41E7-A637-F69468CDC2B6}" srcId="{85548FF9-35DF-40DF-BA5D-9C77D8337DD0}" destId="{8F7F8330-881D-4E76-9812-6329C7A904C4}" srcOrd="0" destOrd="0" parTransId="{1217BC7F-3536-4729-9582-0057E6AF6E01}" sibTransId="{BBE60208-B301-43D5-B12C-5052E08BDC53}"/>
    <dgm:cxn modelId="{B2A34DBB-52A1-4E31-90D9-29BEA3B2AA7E}" srcId="{D6E64138-EC9B-4322-ABA9-018619598A17}" destId="{2CEDD23B-6A37-4ABD-BFE8-07448D27FE9A}" srcOrd="1" destOrd="0" parTransId="{E88734CF-598A-48F2-AA48-65EE7724023A}" sibTransId="{13917C14-6BDF-405F-8A92-7E1BA42F2CE3}"/>
    <dgm:cxn modelId="{0D525AC1-45CC-4BC6-BF44-3EA69B1F4744}" type="presOf" srcId="{9250598B-B84A-43D8-9BDC-8B49A6A6EA90}" destId="{5C1A7DEB-9F69-42AA-967E-8C6C29D701A0}" srcOrd="0" destOrd="0" presId="urn:microsoft.com/office/officeart/2018/2/layout/IconLabelDescriptionList"/>
    <dgm:cxn modelId="{35C532CF-1099-47E8-AD08-CEA9A3B83580}" type="presOf" srcId="{F9CAB5BD-2C96-4B92-917A-58751E5340E6}" destId="{18E8E2DC-1152-43EC-A753-2D26DC669DE2}" srcOrd="0" destOrd="0" presId="urn:microsoft.com/office/officeart/2018/2/layout/IconLabelDescriptionList"/>
    <dgm:cxn modelId="{9FE5B7CF-EAB8-4105-874D-EFAE4C21A5D2}" type="presOf" srcId="{DCA93D80-B736-4CB2-8463-E951399DFC79}" destId="{18E8E2DC-1152-43EC-A753-2D26DC669DE2}" srcOrd="0" destOrd="1" presId="urn:microsoft.com/office/officeart/2018/2/layout/IconLabelDescriptionList"/>
    <dgm:cxn modelId="{C28A3EE7-24A3-45EE-A714-BA6B4D609926}" srcId="{561BE227-6443-411A-BEA7-9F23BD6507A2}" destId="{B2070E81-25DE-4AC3-8284-CAA6310917A6}" srcOrd="0" destOrd="0" parTransId="{AC29A5AE-2193-4AD3-8EB2-977D0D74A564}" sibTransId="{D9C22835-E5DE-415A-8B51-9FF9186E10DE}"/>
    <dgm:cxn modelId="{CED3EEF4-7882-427F-9FDB-EFD65721DC01}" type="presOf" srcId="{F0FD3005-82D8-48DA-AAEE-30BA38061C2D}" destId="{5C1A7DEB-9F69-42AA-967E-8C6C29D701A0}" srcOrd="0" destOrd="1" presId="urn:microsoft.com/office/officeart/2018/2/layout/IconLabelDescriptionList"/>
    <dgm:cxn modelId="{3ECCC9FD-062F-4DA6-830E-669299AB77FE}" srcId="{561BE227-6443-411A-BEA7-9F23BD6507A2}" destId="{E8316849-CEEF-4FB0-9AB1-DEEE08713B85}" srcOrd="1" destOrd="0" parTransId="{9DCAD504-08E1-4166-8FDC-D6744F38B377}" sibTransId="{C7F90D61-FDD1-4065-A116-8E2A9E8D7B83}"/>
    <dgm:cxn modelId="{C7667E5B-4C5D-4C6E-B8F7-FCA12649C98A}" type="presParOf" srcId="{E2564D12-C7B6-45DC-A2C4-B3AF56279890}" destId="{CF009DB3-61A6-4768-8CE9-16B2A312ED1C}" srcOrd="0" destOrd="0" presId="urn:microsoft.com/office/officeart/2018/2/layout/IconLabelDescriptionList"/>
    <dgm:cxn modelId="{AA08E82D-BE33-4E0E-A73B-8A5CC77B8E4A}" type="presParOf" srcId="{CF009DB3-61A6-4768-8CE9-16B2A312ED1C}" destId="{22112FC7-10B5-41D7-898D-AEFAAF1EAF52}" srcOrd="0" destOrd="0" presId="urn:microsoft.com/office/officeart/2018/2/layout/IconLabelDescriptionList"/>
    <dgm:cxn modelId="{D84B37D4-20A2-42B4-AD6A-68954DFCB263}" type="presParOf" srcId="{CF009DB3-61A6-4768-8CE9-16B2A312ED1C}" destId="{CF45DAA5-C41E-4D94-BE18-A5AFA4306E8B}" srcOrd="1" destOrd="0" presId="urn:microsoft.com/office/officeart/2018/2/layout/IconLabelDescriptionList"/>
    <dgm:cxn modelId="{A7574D34-B93B-466C-AAC6-7F2150F6FDAB}" type="presParOf" srcId="{CF009DB3-61A6-4768-8CE9-16B2A312ED1C}" destId="{B04A4CF4-6F6C-40E5-A65A-E22779E32807}" srcOrd="2" destOrd="0" presId="urn:microsoft.com/office/officeart/2018/2/layout/IconLabelDescriptionList"/>
    <dgm:cxn modelId="{E930D2CB-0390-44E4-A7A9-F5B10D8271CD}" type="presParOf" srcId="{CF009DB3-61A6-4768-8CE9-16B2A312ED1C}" destId="{D2592A51-4F72-4EB9-AA84-BD8EF39754B5}" srcOrd="3" destOrd="0" presId="urn:microsoft.com/office/officeart/2018/2/layout/IconLabelDescriptionList"/>
    <dgm:cxn modelId="{2F585A64-20E3-4E0F-A132-9B33FA27CC30}" type="presParOf" srcId="{CF009DB3-61A6-4768-8CE9-16B2A312ED1C}" destId="{5C1A7DEB-9F69-42AA-967E-8C6C29D701A0}" srcOrd="4" destOrd="0" presId="urn:microsoft.com/office/officeart/2018/2/layout/IconLabelDescriptionList"/>
    <dgm:cxn modelId="{86C29423-50B6-4483-B27C-3AA79688D5E4}" type="presParOf" srcId="{E2564D12-C7B6-45DC-A2C4-B3AF56279890}" destId="{EA61CBF3-569F-4BB3-B071-4F4B561F37F3}" srcOrd="1" destOrd="0" presId="urn:microsoft.com/office/officeart/2018/2/layout/IconLabelDescriptionList"/>
    <dgm:cxn modelId="{25D3EBFD-3506-44BE-9CA5-737797F6088A}" type="presParOf" srcId="{E2564D12-C7B6-45DC-A2C4-B3AF56279890}" destId="{10EFEAD0-DCB6-44C3-BEEC-A1B22C027133}" srcOrd="2" destOrd="0" presId="urn:microsoft.com/office/officeart/2018/2/layout/IconLabelDescriptionList"/>
    <dgm:cxn modelId="{B2FF9E28-0C3F-4A1C-9CEA-BBD4CDC39823}" type="presParOf" srcId="{10EFEAD0-DCB6-44C3-BEEC-A1B22C027133}" destId="{C86FFF5E-5498-4508-A3C3-1C43E3545597}" srcOrd="0" destOrd="0" presId="urn:microsoft.com/office/officeart/2018/2/layout/IconLabelDescriptionList"/>
    <dgm:cxn modelId="{56B19400-60D9-4A46-B553-B6607F28F304}" type="presParOf" srcId="{10EFEAD0-DCB6-44C3-BEEC-A1B22C027133}" destId="{162A334E-0971-4475-86AD-C031C3D9982D}" srcOrd="1" destOrd="0" presId="urn:microsoft.com/office/officeart/2018/2/layout/IconLabelDescriptionList"/>
    <dgm:cxn modelId="{D0F16BC4-DA63-40C4-B34F-778B9FF00660}" type="presParOf" srcId="{10EFEAD0-DCB6-44C3-BEEC-A1B22C027133}" destId="{045CB7BD-F65E-4580-B3DA-515F0DB9C9D8}" srcOrd="2" destOrd="0" presId="urn:microsoft.com/office/officeart/2018/2/layout/IconLabelDescriptionList"/>
    <dgm:cxn modelId="{FEB224E3-0F0C-49CF-BDDD-4880EFAABA1C}" type="presParOf" srcId="{10EFEAD0-DCB6-44C3-BEEC-A1B22C027133}" destId="{753F5661-B28F-40F5-BCF5-1A4D85572522}" srcOrd="3" destOrd="0" presId="urn:microsoft.com/office/officeart/2018/2/layout/IconLabelDescriptionList"/>
    <dgm:cxn modelId="{9F63F5A1-5A91-40DB-A459-2E33FF568EF8}" type="presParOf" srcId="{10EFEAD0-DCB6-44C3-BEEC-A1B22C027133}" destId="{18E8E2DC-1152-43EC-A753-2D26DC669DE2}" srcOrd="4" destOrd="0" presId="urn:microsoft.com/office/officeart/2018/2/layout/IconLabelDescriptionList"/>
    <dgm:cxn modelId="{E035FB1F-8B9E-4A56-82F9-D0E440BA4C0C}" type="presParOf" srcId="{E2564D12-C7B6-45DC-A2C4-B3AF56279890}" destId="{FD557F7C-9F97-4B82-97A9-1C1DB1EE9C1E}" srcOrd="3" destOrd="0" presId="urn:microsoft.com/office/officeart/2018/2/layout/IconLabelDescriptionList"/>
    <dgm:cxn modelId="{A45151EB-8CED-444E-9F89-70797C99A212}" type="presParOf" srcId="{E2564D12-C7B6-45DC-A2C4-B3AF56279890}" destId="{704FFE9E-65C6-42AB-859E-79FCC6A96696}" srcOrd="4" destOrd="0" presId="urn:microsoft.com/office/officeart/2018/2/layout/IconLabelDescriptionList"/>
    <dgm:cxn modelId="{1513FB3B-26E4-411A-8FC1-186C8F5BFF70}" type="presParOf" srcId="{704FFE9E-65C6-42AB-859E-79FCC6A96696}" destId="{1FA48223-1455-4A13-ABEF-B212EC86DBE2}" srcOrd="0" destOrd="0" presId="urn:microsoft.com/office/officeart/2018/2/layout/IconLabelDescriptionList"/>
    <dgm:cxn modelId="{B6FCDC34-AC02-4ABB-B62C-31CA107E4428}" type="presParOf" srcId="{704FFE9E-65C6-42AB-859E-79FCC6A96696}" destId="{8492D32C-8C20-4A0B-A276-AB3CA1299B95}" srcOrd="1" destOrd="0" presId="urn:microsoft.com/office/officeart/2018/2/layout/IconLabelDescriptionList"/>
    <dgm:cxn modelId="{FA11F483-2D84-42BB-AC4D-45684046BA1A}" type="presParOf" srcId="{704FFE9E-65C6-42AB-859E-79FCC6A96696}" destId="{85C6B07E-FC04-472E-B0C4-B547CED880C4}" srcOrd="2" destOrd="0" presId="urn:microsoft.com/office/officeart/2018/2/layout/IconLabelDescriptionList"/>
    <dgm:cxn modelId="{C936683F-078E-440E-84BA-50311BF71085}" type="presParOf" srcId="{704FFE9E-65C6-42AB-859E-79FCC6A96696}" destId="{81F5F0C2-FF69-4200-8C91-B3D33F7E53C7}" srcOrd="3" destOrd="0" presId="urn:microsoft.com/office/officeart/2018/2/layout/IconLabelDescriptionList"/>
    <dgm:cxn modelId="{71FFC6CF-0664-4BD9-A0DD-E2938A41454C}" type="presParOf" srcId="{704FFE9E-65C6-42AB-859E-79FCC6A96696}" destId="{B5874AAF-103C-49A8-BE92-A56FE61A600F}" srcOrd="4" destOrd="0" presId="urn:microsoft.com/office/officeart/2018/2/layout/IconLabelDescriptionList"/>
    <dgm:cxn modelId="{BEF42C40-452F-4D1A-8DBE-1A2BE5456992}" type="presParOf" srcId="{E2564D12-C7B6-45DC-A2C4-B3AF56279890}" destId="{9A4A819C-A768-4C13-A726-A310AC7F14FF}" srcOrd="5" destOrd="0" presId="urn:microsoft.com/office/officeart/2018/2/layout/IconLabelDescriptionList"/>
    <dgm:cxn modelId="{1ED0A4BD-182E-4B66-988A-2F7E65D817C0}" type="presParOf" srcId="{E2564D12-C7B6-45DC-A2C4-B3AF56279890}" destId="{52C09B64-CBB6-45F7-BE4B-F81B8912C3AC}" srcOrd="6" destOrd="0" presId="urn:microsoft.com/office/officeart/2018/2/layout/IconLabelDescriptionList"/>
    <dgm:cxn modelId="{DEC30720-DE11-4998-BBA1-7D07B3CD4A29}" type="presParOf" srcId="{52C09B64-CBB6-45F7-BE4B-F81B8912C3AC}" destId="{4BCA10E8-6BC7-47CA-9C9A-C99B6156A45B}" srcOrd="0" destOrd="0" presId="urn:microsoft.com/office/officeart/2018/2/layout/IconLabelDescriptionList"/>
    <dgm:cxn modelId="{DE991F43-7836-4CE7-832E-B076C5A9F86C}" type="presParOf" srcId="{52C09B64-CBB6-45F7-BE4B-F81B8912C3AC}" destId="{05C2D7EB-B91C-478C-BA86-1C3C1FA98D67}" srcOrd="1" destOrd="0" presId="urn:microsoft.com/office/officeart/2018/2/layout/IconLabelDescriptionList"/>
    <dgm:cxn modelId="{CCDAD1AA-0241-4153-956E-97C404780B22}" type="presParOf" srcId="{52C09B64-CBB6-45F7-BE4B-F81B8912C3AC}" destId="{23B79996-B22E-47F3-AF04-7E823D5DC6E3}" srcOrd="2" destOrd="0" presId="urn:microsoft.com/office/officeart/2018/2/layout/IconLabelDescriptionList"/>
    <dgm:cxn modelId="{3EDF93F2-9AC1-4803-B392-692CDAF32B65}" type="presParOf" srcId="{52C09B64-CBB6-45F7-BE4B-F81B8912C3AC}" destId="{44EAFBBB-4498-49AA-B1EA-034C63240DB6}" srcOrd="3" destOrd="0" presId="urn:microsoft.com/office/officeart/2018/2/layout/IconLabelDescriptionList"/>
    <dgm:cxn modelId="{608DF63F-72E4-4D9D-8E3D-F69D952EA649}" type="presParOf" srcId="{52C09B64-CBB6-45F7-BE4B-F81B8912C3AC}" destId="{71DD7B17-E105-4B44-A135-5E3E4D51CF1C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112FC7-10B5-41D7-898D-AEFAAF1EAF52}">
      <dsp:nvSpPr>
        <dsp:cNvPr id="0" name=""/>
        <dsp:cNvSpPr/>
      </dsp:nvSpPr>
      <dsp:spPr>
        <a:xfrm>
          <a:off x="1568" y="464412"/>
          <a:ext cx="673312" cy="6733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4A4CF4-6F6C-40E5-A65A-E22779E32807}">
      <dsp:nvSpPr>
        <dsp:cNvPr id="0" name=""/>
        <dsp:cNvSpPr/>
      </dsp:nvSpPr>
      <dsp:spPr>
        <a:xfrm>
          <a:off x="1568" y="1286167"/>
          <a:ext cx="1923750" cy="414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b="1" kern="1200" dirty="0"/>
            <a:t>Backend </a:t>
          </a:r>
          <a:r>
            <a:rPr lang="en-GB" sz="1600" b="1" kern="1200" dirty="0" err="1"/>
            <a:t>i</a:t>
          </a:r>
          <a:r>
            <a:rPr lang="en-GB" sz="1600" b="1" kern="1200" dirty="0"/>
            <a:t> </a:t>
          </a:r>
          <a:r>
            <a:rPr lang="en-GB" sz="1600" b="1" kern="1200" dirty="0" err="1"/>
            <a:t>Sigurnost</a:t>
          </a:r>
          <a:endParaRPr lang="en-US" sz="1600" kern="1200" dirty="0"/>
        </a:p>
      </dsp:txBody>
      <dsp:txXfrm>
        <a:off x="1568" y="1286167"/>
        <a:ext cx="1923750" cy="414808"/>
      </dsp:txXfrm>
    </dsp:sp>
    <dsp:sp modelId="{5C1A7DEB-9F69-42AA-967E-8C6C29D701A0}">
      <dsp:nvSpPr>
        <dsp:cNvPr id="0" name=""/>
        <dsp:cNvSpPr/>
      </dsp:nvSpPr>
      <dsp:spPr>
        <a:xfrm>
          <a:off x="1568" y="1770018"/>
          <a:ext cx="1923750" cy="21465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Java 21 &amp; Spring Boot 3.5.7:</a:t>
          </a:r>
          <a:r>
            <a:rPr lang="en-GB" sz="1400" kern="1200" dirty="0"/>
            <a:t> </a:t>
          </a:r>
          <a:r>
            <a:rPr lang="en-GB" sz="1400" kern="1200" dirty="0" err="1"/>
            <a:t>Temelj</a:t>
          </a:r>
          <a:r>
            <a:rPr lang="en-GB" sz="1400" kern="1200" dirty="0"/>
            <a:t> </a:t>
          </a:r>
          <a:r>
            <a:rPr lang="en-GB" sz="1400" kern="1200" dirty="0" err="1"/>
            <a:t>sustava</a:t>
          </a:r>
          <a:r>
            <a:rPr lang="en-GB" sz="1400" kern="1200" dirty="0"/>
            <a:t> (REST API, Spring Data JPA).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OAuth 2.0:</a:t>
          </a:r>
          <a:r>
            <a:rPr lang="en-GB" sz="1400" kern="1200" dirty="0"/>
            <a:t> </a:t>
          </a:r>
          <a:r>
            <a:rPr lang="en-GB" sz="1400" kern="1200" dirty="0" err="1"/>
            <a:t>Sigurna</a:t>
          </a:r>
          <a:r>
            <a:rPr lang="en-GB" sz="1400" kern="1200" dirty="0"/>
            <a:t> </a:t>
          </a:r>
          <a:r>
            <a:rPr lang="en-GB" sz="1400" kern="1200" dirty="0" err="1"/>
            <a:t>autentifikacija</a:t>
          </a:r>
          <a:r>
            <a:rPr lang="en-GB" sz="1400" kern="1200" dirty="0"/>
            <a:t> </a:t>
          </a:r>
          <a:r>
            <a:rPr lang="en-GB" sz="1400" kern="1200" dirty="0" err="1"/>
            <a:t>korisnika</a:t>
          </a:r>
          <a:r>
            <a:rPr lang="en-GB" sz="1400" kern="1200" dirty="0"/>
            <a:t> (Google, GitHub) bez </a:t>
          </a:r>
          <a:r>
            <a:rPr lang="en-GB" sz="1400" kern="1200" dirty="0" err="1"/>
            <a:t>čuvanja</a:t>
          </a:r>
          <a:r>
            <a:rPr lang="en-GB" sz="1400" kern="1200" dirty="0"/>
            <a:t> </a:t>
          </a:r>
          <a:r>
            <a:rPr lang="en-GB" sz="1400" kern="1200" dirty="0" err="1"/>
            <a:t>lozinki</a:t>
          </a:r>
          <a:r>
            <a:rPr lang="en-GB" sz="1400" kern="1200" dirty="0"/>
            <a:t>.</a:t>
          </a:r>
          <a:endParaRPr lang="en-US" sz="1400" kern="1200" dirty="0"/>
        </a:p>
      </dsp:txBody>
      <dsp:txXfrm>
        <a:off x="1568" y="1770018"/>
        <a:ext cx="1923750" cy="2146538"/>
      </dsp:txXfrm>
    </dsp:sp>
    <dsp:sp modelId="{C86FFF5E-5498-4508-A3C3-1C43E3545597}">
      <dsp:nvSpPr>
        <dsp:cNvPr id="0" name=""/>
        <dsp:cNvSpPr/>
      </dsp:nvSpPr>
      <dsp:spPr>
        <a:xfrm>
          <a:off x="2261974" y="464412"/>
          <a:ext cx="673312" cy="6733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5CB7BD-F65E-4580-B3DA-515F0DB9C9D8}">
      <dsp:nvSpPr>
        <dsp:cNvPr id="0" name=""/>
        <dsp:cNvSpPr/>
      </dsp:nvSpPr>
      <dsp:spPr>
        <a:xfrm>
          <a:off x="2261974" y="1286167"/>
          <a:ext cx="1923750" cy="414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b="1" kern="1200" dirty="0"/>
            <a:t>Frontend</a:t>
          </a:r>
          <a:endParaRPr lang="en-US" sz="1400" kern="1200" dirty="0"/>
        </a:p>
      </dsp:txBody>
      <dsp:txXfrm>
        <a:off x="2261974" y="1286167"/>
        <a:ext cx="1923750" cy="414808"/>
      </dsp:txXfrm>
    </dsp:sp>
    <dsp:sp modelId="{18E8E2DC-1152-43EC-A753-2D26DC669DE2}">
      <dsp:nvSpPr>
        <dsp:cNvPr id="0" name=""/>
        <dsp:cNvSpPr/>
      </dsp:nvSpPr>
      <dsp:spPr>
        <a:xfrm>
          <a:off x="2261974" y="1770018"/>
          <a:ext cx="1923750" cy="21465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React 19 &amp; Vite:</a:t>
          </a:r>
          <a:r>
            <a:rPr lang="en-GB" sz="1400" kern="1200"/>
            <a:t> Moderna </a:t>
          </a:r>
          <a:r>
            <a:rPr lang="en-GB" sz="1400" i="1" kern="1200"/>
            <a:t>Single Page Application</a:t>
          </a:r>
          <a:r>
            <a:rPr lang="en-GB" sz="1400" kern="1200"/>
            <a:t> (SPA) s brzim učitavanjem.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JavaScript (ES2020+) &amp; CSS:</a:t>
          </a:r>
          <a:r>
            <a:rPr lang="en-GB" sz="1400" kern="1200" dirty="0"/>
            <a:t> </a:t>
          </a:r>
          <a:r>
            <a:rPr lang="en-GB" sz="1400" kern="1200" dirty="0" err="1"/>
            <a:t>Komponentni</a:t>
          </a:r>
          <a:r>
            <a:rPr lang="en-GB" sz="1400" kern="1200" dirty="0"/>
            <a:t> </a:t>
          </a:r>
          <a:r>
            <a:rPr lang="en-GB" sz="1400" kern="1200" dirty="0" err="1"/>
            <a:t>pristup</a:t>
          </a:r>
          <a:r>
            <a:rPr lang="en-GB" sz="1400" kern="1200" dirty="0"/>
            <a:t> </a:t>
          </a:r>
          <a:r>
            <a:rPr lang="en-GB" sz="1400" kern="1200" dirty="0" err="1"/>
            <a:t>dizajnu</a:t>
          </a:r>
          <a:r>
            <a:rPr lang="en-GB" sz="1400" kern="1200" dirty="0"/>
            <a:t> </a:t>
          </a:r>
          <a:r>
            <a:rPr lang="en-GB" sz="1400" kern="1200" dirty="0" err="1"/>
            <a:t>sučelja</a:t>
          </a:r>
          <a:r>
            <a:rPr lang="en-GB" sz="1400" kern="1200" dirty="0"/>
            <a:t>.</a:t>
          </a:r>
          <a:endParaRPr lang="en-US" sz="1400" kern="1200" dirty="0"/>
        </a:p>
      </dsp:txBody>
      <dsp:txXfrm>
        <a:off x="2261974" y="1770018"/>
        <a:ext cx="1923750" cy="2146538"/>
      </dsp:txXfrm>
    </dsp:sp>
    <dsp:sp modelId="{1FA48223-1455-4A13-ABEF-B212EC86DBE2}">
      <dsp:nvSpPr>
        <dsp:cNvPr id="0" name=""/>
        <dsp:cNvSpPr/>
      </dsp:nvSpPr>
      <dsp:spPr>
        <a:xfrm>
          <a:off x="4522381" y="464412"/>
          <a:ext cx="673312" cy="6733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C6B07E-FC04-472E-B0C4-B547CED880C4}">
      <dsp:nvSpPr>
        <dsp:cNvPr id="0" name=""/>
        <dsp:cNvSpPr/>
      </dsp:nvSpPr>
      <dsp:spPr>
        <a:xfrm>
          <a:off x="4522381" y="1286167"/>
          <a:ext cx="1923750" cy="414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b="1" kern="1200" dirty="0"/>
            <a:t>Baza </a:t>
          </a:r>
          <a:r>
            <a:rPr lang="en-GB" sz="1600" b="1" kern="1200" dirty="0" err="1"/>
            <a:t>podataka</a:t>
          </a:r>
          <a:endParaRPr lang="en-US" sz="1600" kern="1200" dirty="0"/>
        </a:p>
      </dsp:txBody>
      <dsp:txXfrm>
        <a:off x="4522381" y="1286167"/>
        <a:ext cx="1923750" cy="414808"/>
      </dsp:txXfrm>
    </dsp:sp>
    <dsp:sp modelId="{B5874AAF-103C-49A8-BE92-A56FE61A600F}">
      <dsp:nvSpPr>
        <dsp:cNvPr id="0" name=""/>
        <dsp:cNvSpPr/>
      </dsp:nvSpPr>
      <dsp:spPr>
        <a:xfrm>
          <a:off x="4522381" y="1770018"/>
          <a:ext cx="1923750" cy="21465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PostgreSQL 13:</a:t>
          </a:r>
          <a:r>
            <a:rPr lang="en-GB" sz="1400" kern="1200" dirty="0"/>
            <a:t> </a:t>
          </a:r>
          <a:r>
            <a:rPr lang="en-GB" sz="1400" kern="1200" dirty="0" err="1"/>
            <a:t>Glavna</a:t>
          </a:r>
          <a:r>
            <a:rPr lang="en-GB" sz="1400" kern="1200" dirty="0"/>
            <a:t> </a:t>
          </a:r>
          <a:r>
            <a:rPr lang="en-GB" sz="1400" kern="1200" dirty="0" err="1"/>
            <a:t>relacijska</a:t>
          </a:r>
          <a:r>
            <a:rPr lang="en-GB" sz="1400" kern="1200" dirty="0"/>
            <a:t> </a:t>
          </a:r>
          <a:r>
            <a:rPr lang="en-GB" sz="1400" kern="1200" dirty="0" err="1"/>
            <a:t>baza</a:t>
          </a:r>
          <a:r>
            <a:rPr lang="en-GB" sz="1400" kern="1200" dirty="0"/>
            <a:t> za </a:t>
          </a:r>
          <a:r>
            <a:rPr lang="en-GB" sz="1400" kern="1200" dirty="0" err="1"/>
            <a:t>produkciju</a:t>
          </a:r>
          <a:r>
            <a:rPr lang="en-GB" sz="1400" kern="1200" dirty="0"/>
            <a:t> (</a:t>
          </a:r>
          <a:r>
            <a:rPr lang="en-GB" sz="1400" kern="1200" dirty="0" err="1"/>
            <a:t>podaci</a:t>
          </a:r>
          <a:r>
            <a:rPr lang="en-GB" sz="1400" kern="1200" dirty="0"/>
            <a:t> o </a:t>
          </a:r>
          <a:r>
            <a:rPr lang="en-GB" sz="1400" kern="1200" dirty="0" err="1"/>
            <a:t>stanarima</a:t>
          </a:r>
          <a:r>
            <a:rPr lang="en-GB" sz="1400" kern="1200" dirty="0"/>
            <a:t>, </a:t>
          </a:r>
          <a:r>
            <a:rPr lang="en-GB" sz="1400" kern="1200" dirty="0" err="1"/>
            <a:t>sastancima</a:t>
          </a:r>
          <a:r>
            <a:rPr lang="en-GB" sz="1400" kern="1200" dirty="0"/>
            <a:t>).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H2 Database:</a:t>
          </a:r>
          <a:r>
            <a:rPr lang="en-GB" sz="1400" kern="1200" dirty="0"/>
            <a:t> In-memory </a:t>
          </a:r>
          <a:r>
            <a:rPr lang="en-GB" sz="1400" kern="1200" dirty="0" err="1"/>
            <a:t>baza</a:t>
          </a:r>
          <a:r>
            <a:rPr lang="en-GB" sz="1400" kern="1200" dirty="0"/>
            <a:t> za </a:t>
          </a:r>
          <a:r>
            <a:rPr lang="en-GB" sz="1400" kern="1200" dirty="0" err="1"/>
            <a:t>brzo</a:t>
          </a:r>
          <a:r>
            <a:rPr lang="en-GB" sz="1400" kern="1200" dirty="0"/>
            <a:t> </a:t>
          </a:r>
          <a:r>
            <a:rPr lang="en-GB" sz="1400" kern="1200" dirty="0" err="1"/>
            <a:t>i</a:t>
          </a:r>
          <a:r>
            <a:rPr lang="en-GB" sz="1400" kern="1200" dirty="0"/>
            <a:t> </a:t>
          </a:r>
          <a:r>
            <a:rPr lang="en-GB" sz="1400" kern="1200" dirty="0" err="1"/>
            <a:t>izolirano</a:t>
          </a:r>
          <a:r>
            <a:rPr lang="en-GB" sz="1400" kern="1200" dirty="0"/>
            <a:t> </a:t>
          </a:r>
          <a:r>
            <a:rPr lang="en-GB" sz="1400" kern="1200" dirty="0" err="1"/>
            <a:t>testiranje</a:t>
          </a:r>
          <a:r>
            <a:rPr lang="en-GB" sz="1400" kern="1200" dirty="0"/>
            <a:t>.</a:t>
          </a:r>
          <a:endParaRPr lang="en-US" sz="1400" kern="1200" dirty="0"/>
        </a:p>
      </dsp:txBody>
      <dsp:txXfrm>
        <a:off x="4522381" y="1770018"/>
        <a:ext cx="1923750" cy="2146538"/>
      </dsp:txXfrm>
    </dsp:sp>
    <dsp:sp modelId="{4BCA10E8-6BC7-47CA-9C9A-C99B6156A45B}">
      <dsp:nvSpPr>
        <dsp:cNvPr id="0" name=""/>
        <dsp:cNvSpPr/>
      </dsp:nvSpPr>
      <dsp:spPr>
        <a:xfrm>
          <a:off x="6782787" y="464412"/>
          <a:ext cx="673312" cy="67331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B79996-B22E-47F3-AF04-7E823D5DC6E3}">
      <dsp:nvSpPr>
        <dsp:cNvPr id="0" name=""/>
        <dsp:cNvSpPr/>
      </dsp:nvSpPr>
      <dsp:spPr>
        <a:xfrm>
          <a:off x="6782787" y="1286167"/>
          <a:ext cx="1923750" cy="4148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600" b="1" kern="1200" dirty="0"/>
            <a:t>DevOps, </a:t>
          </a:r>
          <a:r>
            <a:rPr lang="en-GB" sz="1600" b="1" kern="1200" dirty="0" err="1"/>
            <a:t>Testiranje</a:t>
          </a:r>
          <a:r>
            <a:rPr lang="en-GB" sz="1600" b="1" kern="1200" dirty="0"/>
            <a:t> </a:t>
          </a:r>
          <a:r>
            <a:rPr lang="en-GB" sz="1600" b="1" kern="1200" dirty="0" err="1"/>
            <a:t>i</a:t>
          </a:r>
          <a:r>
            <a:rPr lang="en-GB" sz="1600" b="1" kern="1200" dirty="0"/>
            <a:t> Alati</a:t>
          </a:r>
          <a:endParaRPr lang="en-US" sz="1600" kern="1200" dirty="0"/>
        </a:p>
      </dsp:txBody>
      <dsp:txXfrm>
        <a:off x="6782787" y="1286167"/>
        <a:ext cx="1923750" cy="414808"/>
      </dsp:txXfrm>
    </dsp:sp>
    <dsp:sp modelId="{71DD7B17-E105-4B44-A135-5E3E4D51CF1C}">
      <dsp:nvSpPr>
        <dsp:cNvPr id="0" name=""/>
        <dsp:cNvSpPr/>
      </dsp:nvSpPr>
      <dsp:spPr>
        <a:xfrm>
          <a:off x="6782787" y="1770018"/>
          <a:ext cx="1923750" cy="214653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Docker:</a:t>
          </a:r>
          <a:r>
            <a:rPr lang="en-GB" sz="1400" kern="1200" dirty="0"/>
            <a:t> </a:t>
          </a:r>
          <a:r>
            <a:rPr lang="en-GB" sz="1400" kern="1200" dirty="0" err="1"/>
            <a:t>Kontejnerizacija</a:t>
          </a:r>
          <a:r>
            <a:rPr lang="en-GB" sz="1400" kern="1200" dirty="0"/>
            <a:t> </a:t>
          </a:r>
          <a:r>
            <a:rPr lang="en-GB" sz="1400" kern="1200" dirty="0" err="1"/>
            <a:t>aplikacije</a:t>
          </a:r>
          <a:r>
            <a:rPr lang="en-GB" sz="1400" kern="1200" dirty="0"/>
            <a:t> (Nginx za frontend, JAR za backend) </a:t>
          </a:r>
          <a:r>
            <a:rPr lang="en-GB" sz="1400" kern="1200" dirty="0" err="1"/>
            <a:t>radi</a:t>
          </a:r>
          <a:r>
            <a:rPr lang="en-GB" sz="1400" kern="1200" dirty="0"/>
            <a:t> </a:t>
          </a:r>
          <a:r>
            <a:rPr lang="en-GB" sz="1400" kern="1200" dirty="0" err="1"/>
            <a:t>lakšeg</a:t>
          </a:r>
          <a:r>
            <a:rPr lang="en-GB" sz="1400" kern="1200" dirty="0"/>
            <a:t> </a:t>
          </a:r>
          <a:r>
            <a:rPr lang="en-GB" sz="1400" kern="1200" dirty="0" err="1"/>
            <a:t>razmještaja</a:t>
          </a:r>
          <a:r>
            <a:rPr lang="en-GB" sz="1400" kern="1200" dirty="0"/>
            <a:t>.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JUnit &amp; Selenium:</a:t>
          </a:r>
          <a:r>
            <a:rPr lang="en-GB" sz="1400" kern="1200" dirty="0"/>
            <a:t> </a:t>
          </a:r>
          <a:r>
            <a:rPr lang="en-GB" sz="1400" kern="1200" dirty="0" err="1"/>
            <a:t>Automatizirano</a:t>
          </a:r>
          <a:r>
            <a:rPr lang="en-GB" sz="1400" kern="1200" dirty="0"/>
            <a:t> </a:t>
          </a:r>
          <a:r>
            <a:rPr lang="en-GB" sz="1400" kern="1200" dirty="0" err="1"/>
            <a:t>jedinično</a:t>
          </a:r>
          <a:r>
            <a:rPr lang="en-GB" sz="1400" kern="1200" dirty="0"/>
            <a:t> (Unit) </a:t>
          </a:r>
          <a:r>
            <a:rPr lang="en-GB" sz="1400" kern="1200" dirty="0" err="1"/>
            <a:t>i</a:t>
          </a:r>
          <a:r>
            <a:rPr lang="en-GB" sz="1400" kern="1200" dirty="0"/>
            <a:t> UI </a:t>
          </a:r>
          <a:r>
            <a:rPr lang="en-GB" sz="1400" kern="1200" dirty="0" err="1"/>
            <a:t>testiranje</a:t>
          </a:r>
          <a:r>
            <a:rPr lang="en-GB" sz="1400" kern="1200" dirty="0"/>
            <a:t>.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 dirty="0"/>
            <a:t>Git &amp; GitHub:</a:t>
          </a:r>
          <a:r>
            <a:rPr lang="en-GB" sz="1400" kern="1200" dirty="0"/>
            <a:t> </a:t>
          </a:r>
          <a:r>
            <a:rPr lang="en-GB" sz="1400" kern="1200" dirty="0" err="1"/>
            <a:t>Verzioniranje</a:t>
          </a:r>
          <a:r>
            <a:rPr lang="en-GB" sz="1400" kern="1200" dirty="0"/>
            <a:t> </a:t>
          </a:r>
          <a:r>
            <a:rPr lang="en-GB" sz="1400" kern="1200" dirty="0" err="1"/>
            <a:t>koda</a:t>
          </a:r>
          <a:r>
            <a:rPr lang="en-GB" sz="1400" kern="1200" dirty="0"/>
            <a:t> </a:t>
          </a:r>
          <a:r>
            <a:rPr lang="en-GB" sz="1400" kern="1200" dirty="0" err="1"/>
            <a:t>i</a:t>
          </a:r>
          <a:r>
            <a:rPr lang="en-GB" sz="1400" kern="1200" dirty="0"/>
            <a:t> CI/CD.</a:t>
          </a:r>
          <a:endParaRPr lang="en-US" sz="1400" kern="1200" dirty="0"/>
        </a:p>
      </dsp:txBody>
      <dsp:txXfrm>
        <a:off x="6782787" y="1770018"/>
        <a:ext cx="1923750" cy="2146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596D4-CB16-4BAD-83F6-7E8077D61F81}" type="datetimeFigureOut">
              <a:rPr lang="hr-HR" smtClean="0"/>
              <a:t>23.01.2026.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45738E-9CB8-443D-AC33-32367D54213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40785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1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90689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40341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list no need to elaborate in this stage!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570201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Navedite samo svoju viziju projektne ideje...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45738E-9CB8-443D-AC33-32367D542132}" type="slidenum">
              <a:rPr lang="hr-HR" smtClean="0"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510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ight Triangle 32">
            <a:extLst>
              <a:ext uri="{FF2B5EF4-FFF2-40B4-BE49-F238E27FC236}">
                <a16:creationId xmlns:a16="http://schemas.microsoft.com/office/drawing/2014/main" id="{2A737799-F072-47E1-A678-5CE12F097D06}"/>
              </a:ext>
            </a:extLst>
          </p:cNvPr>
          <p:cNvSpPr/>
          <p:nvPr/>
        </p:nvSpPr>
        <p:spPr>
          <a:xfrm flipH="1">
            <a:off x="4496837" y="4722829"/>
            <a:ext cx="4644854" cy="2135171"/>
          </a:xfrm>
          <a:prstGeom prst="rtTriangle">
            <a:avLst/>
          </a:prstGeom>
          <a:blipFill dpi="0" rotWithShape="0">
            <a:blip r:embed="rId2"/>
            <a:srcRect/>
            <a:tile tx="0" ty="-393700" sx="100000" sy="100000" flip="none" algn="tl"/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1541283"/>
          </a:xfrm>
        </p:spPr>
        <p:txBody>
          <a:bodyPr lIns="252000" tIns="46800" rIns="252000" anchor="ctr">
            <a:normAutofit/>
          </a:bodyPr>
          <a:lstStyle>
            <a:lvl1pPr algn="ctr">
              <a:defRPr lang="en-US" sz="2800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A13A86-3F68-4CBB-B661-B96A001B15BE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2AA1C2-ED49-4B0D-9C5A-6D47DFC70771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FC8746-DFC2-4DDF-B034-CED2ACE15704}"/>
                </a:ext>
              </a:extLst>
            </p:cNvPr>
            <p:cNvSpPr/>
            <p:nvPr userDrawn="1"/>
          </p:nvSpPr>
          <p:spPr>
            <a:xfrm rot="16200000">
              <a:off x="514859" y="-51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94884E1-E6D8-48CB-B7A9-438FB51C78F5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32F5CBCA-0AB8-4B6A-8A03-C549C7F3AE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79000"/>
          </a:blip>
          <a:srcRect l="13474" t="23715" r="15700" b="21450"/>
          <a:stretch/>
        </p:blipFill>
        <p:spPr>
          <a:xfrm>
            <a:off x="7499927" y="308066"/>
            <a:ext cx="1416947" cy="684000"/>
          </a:xfrm>
          <a:prstGeom prst="rect">
            <a:avLst/>
          </a:prstGeom>
        </p:spPr>
      </p:pic>
      <p:pic>
        <p:nvPicPr>
          <p:cNvPr id="16" name="Picture 15" descr="A screenshot of a video game&#10;&#10;Description automatically generated">
            <a:extLst>
              <a:ext uri="{FF2B5EF4-FFF2-40B4-BE49-F238E27FC236}">
                <a16:creationId xmlns:a16="http://schemas.microsoft.com/office/drawing/2014/main" id="{304A50E9-593B-484E-BBFD-7D99ADECD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72"/>
          <a:stretch/>
        </p:blipFill>
        <p:spPr>
          <a:xfrm>
            <a:off x="629310" y="543433"/>
            <a:ext cx="2495116" cy="24634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E779F65-BFE6-4D96-B824-8575890A4185}"/>
              </a:ext>
            </a:extLst>
          </p:cNvPr>
          <p:cNvSpPr txBox="1"/>
          <p:nvPr/>
        </p:nvSpPr>
        <p:spPr>
          <a:xfrm>
            <a:off x="6299200" y="1668720"/>
            <a:ext cx="3155393" cy="64344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7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4D68C4-3DFA-4D90-89DF-550D8FB0DB2C}"/>
              </a:ext>
            </a:extLst>
          </p:cNvPr>
          <p:cNvGrpSpPr/>
          <p:nvPr/>
        </p:nvGrpSpPr>
        <p:grpSpPr>
          <a:xfrm>
            <a:off x="8541834" y="2712985"/>
            <a:ext cx="602166" cy="689744"/>
            <a:chOff x="8541834" y="2712985"/>
            <a:chExt cx="602166" cy="68974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91C753-BAAB-4424-9E32-3F1432529749}"/>
                </a:ext>
              </a:extLst>
            </p:cNvPr>
            <p:cNvSpPr/>
            <p:nvPr userDrawn="1"/>
          </p:nvSpPr>
          <p:spPr>
            <a:xfrm>
              <a:off x="9000000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86BC744-DC4B-4A55-B6FA-A711EC8ACF52}"/>
                </a:ext>
              </a:extLst>
            </p:cNvPr>
            <p:cNvSpPr/>
            <p:nvPr userDrawn="1"/>
          </p:nvSpPr>
          <p:spPr>
            <a:xfrm>
              <a:off x="8772874" y="2718729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0AA3319-80CC-4953-81CC-A4C7D5063739}"/>
                </a:ext>
              </a:extLst>
            </p:cNvPr>
            <p:cNvSpPr/>
            <p:nvPr userDrawn="1"/>
          </p:nvSpPr>
          <p:spPr>
            <a:xfrm>
              <a:off x="8541834" y="2712985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9B169C9B-ABD9-49DB-8ECD-EBB51008CF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0606" t="17629" r="15252" b="19248"/>
          <a:stretch/>
        </p:blipFill>
        <p:spPr>
          <a:xfrm>
            <a:off x="6472518" y="270901"/>
            <a:ext cx="836453" cy="82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217BDC-58CC-FADA-1B39-623F12755E0B}"/>
              </a:ext>
            </a:extLst>
          </p:cNvPr>
          <p:cNvSpPr txBox="1"/>
          <p:nvPr userDrawn="1"/>
        </p:nvSpPr>
        <p:spPr>
          <a:xfrm>
            <a:off x="2757249" y="3212658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A7A9A7D-F6F6-0F08-90E6-4F20750E9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292" y="5227023"/>
            <a:ext cx="777240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7721124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alphaModFix amt="10000"/>
            <a:lum/>
          </a:blip>
          <a:srcRect/>
          <a:stretch>
            <a:fillRect l="85000" t="93000" r="1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9D65BC3-0390-487E-9343-57013C37910B}"/>
              </a:ext>
            </a:extLst>
          </p:cNvPr>
          <p:cNvGrpSpPr/>
          <p:nvPr/>
        </p:nvGrpSpPr>
        <p:grpSpPr>
          <a:xfrm>
            <a:off x="0" y="0"/>
            <a:ext cx="1370309" cy="6858000"/>
            <a:chOff x="0" y="0"/>
            <a:chExt cx="1370309" cy="6858000"/>
          </a:xfrm>
          <a:solidFill>
            <a:srgbClr val="FFB400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F4361EC-AED8-4B86-B0D1-15361ACD5BB7}"/>
                </a:ext>
              </a:extLst>
            </p:cNvPr>
            <p:cNvSpPr/>
            <p:nvPr userDrawn="1"/>
          </p:nvSpPr>
          <p:spPr>
            <a:xfrm>
              <a:off x="0" y="0"/>
              <a:ext cx="342900" cy="685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7164C5-7F89-48EA-9906-0AF23BCC4882}"/>
                </a:ext>
              </a:extLst>
            </p:cNvPr>
            <p:cNvSpPr/>
            <p:nvPr userDrawn="1"/>
          </p:nvSpPr>
          <p:spPr>
            <a:xfrm rot="16200000">
              <a:off x="514859" y="6002550"/>
              <a:ext cx="342900" cy="1368000"/>
            </a:xfrm>
            <a:prstGeom prst="rect">
              <a:avLst/>
            </a:prstGeom>
            <a:grpFill/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1" name="Picture 10" descr="A screenshot of a video game&#10;&#10;Description automatically generated">
            <a:extLst>
              <a:ext uri="{FF2B5EF4-FFF2-40B4-BE49-F238E27FC236}">
                <a16:creationId xmlns:a16="http://schemas.microsoft.com/office/drawing/2014/main" id="{400D0D9E-702E-4495-B908-117D903BB1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72"/>
          <a:stretch/>
        </p:blipFill>
        <p:spPr>
          <a:xfrm>
            <a:off x="7680632" y="120349"/>
            <a:ext cx="1276193" cy="1260000"/>
          </a:xfrm>
          <a:prstGeom prst="rect">
            <a:avLst/>
          </a:prstGeom>
        </p:spPr>
      </p:pic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BE68E431-7FC2-47FC-A826-4B794B289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B4F37E-A6B4-4A59-A76A-E67F5B42B7AF}"/>
              </a:ext>
            </a:extLst>
          </p:cNvPr>
          <p:cNvCxnSpPr>
            <a:cxnSpLocks/>
          </p:cNvCxnSpPr>
          <p:nvPr/>
        </p:nvCxnSpPr>
        <p:spPr>
          <a:xfrm flipH="1">
            <a:off x="1071418" y="4581245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758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95554"/>
            <a:ext cx="7886700" cy="4931327"/>
          </a:xfrm>
        </p:spPr>
        <p:txBody>
          <a:bodyPr/>
          <a:lstStyle>
            <a:lvl2pPr marL="685800" indent="-228600">
              <a:buFont typeface="Wingdings" panose="05000000000000000000" pitchFamily="2" charset="2"/>
              <a:buChar char="§"/>
              <a:defRPr sz="2200"/>
            </a:lvl2pPr>
            <a:lvl3pPr marL="1143000" indent="-228600">
              <a:buFont typeface="Courier New" panose="02070309020205020404" pitchFamily="49" charset="0"/>
              <a:buChar char="o"/>
              <a:defRPr sz="1800"/>
            </a:lvl3pPr>
            <a:lvl4pPr marL="1600200" indent="-228600">
              <a:buFont typeface="Franklin Gothic Book" panose="020B0503020102020204" pitchFamily="34" charset="0"/>
              <a:buChar char="―"/>
              <a:defRPr sz="1600"/>
            </a:lvl4pPr>
            <a:lvl5pPr marL="2057400" indent="-2286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347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1050AD4-29D0-47EA-9708-82FD8FAF1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C09F13D-5F40-4714-BA42-EFC264DE9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413164"/>
            <a:ext cx="3886200" cy="4763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8255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844838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5EDF29-E7FA-42BB-A5D2-94CEEA4E580C}"/>
              </a:ext>
            </a:extLst>
          </p:cNvPr>
          <p:cNvCxnSpPr/>
          <p:nvPr/>
        </p:nvCxnSpPr>
        <p:spPr>
          <a:xfrm>
            <a:off x="1071418" y="1209961"/>
            <a:ext cx="6918037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2">
                    <a:lumMod val="90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237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2">
            <a:alphaModFix amt="20000"/>
            <a:lum/>
          </a:blip>
          <a:srcRect/>
          <a:stretch>
            <a:fillRect l="1000" t="93000" r="85000" b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07128" y="6492873"/>
            <a:ext cx="5929744" cy="376239"/>
          </a:xfr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89455" y="6492873"/>
            <a:ext cx="525895" cy="365125"/>
          </a:xfrm>
          <a:prstGeom prst="rect">
            <a:avLst/>
          </a:prstGeom>
        </p:spPr>
        <p:txBody>
          <a:bodyPr anchor="t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0" name="Picture 9" descr="A screenshot of a video game&#10;&#10;Description automatically generated">
            <a:extLst>
              <a:ext uri="{FF2B5EF4-FFF2-40B4-BE49-F238E27FC236}">
                <a16:creationId xmlns:a16="http://schemas.microsoft.com/office/drawing/2014/main" id="{25117F72-A25C-4562-B741-ED2B6BAAA2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6650" b="772"/>
          <a:stretch/>
        </p:blipFill>
        <p:spPr>
          <a:xfrm>
            <a:off x="0" y="345965"/>
            <a:ext cx="554370" cy="864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3D72EFA-43C3-4986-8204-6D8755B204AF}"/>
              </a:ext>
            </a:extLst>
          </p:cNvPr>
          <p:cNvGrpSpPr/>
          <p:nvPr/>
        </p:nvGrpSpPr>
        <p:grpSpPr>
          <a:xfrm>
            <a:off x="8539904" y="435965"/>
            <a:ext cx="604096" cy="684000"/>
            <a:chOff x="24554" y="448418"/>
            <a:chExt cx="604096" cy="684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FBAC80-66D2-4E1E-B3CA-BAEBB8E4FB80}"/>
                </a:ext>
              </a:extLst>
            </p:cNvPr>
            <p:cNvSpPr/>
            <p:nvPr userDrawn="1"/>
          </p:nvSpPr>
          <p:spPr>
            <a:xfrm>
              <a:off x="484650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912841-8D49-4A6E-A79D-84DDF6D39288}"/>
                </a:ext>
              </a:extLst>
            </p:cNvPr>
            <p:cNvSpPr/>
            <p:nvPr userDrawn="1"/>
          </p:nvSpPr>
          <p:spPr>
            <a:xfrm>
              <a:off x="25752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46B4486-4F05-4863-9050-63BBB7AAFF46}"/>
                </a:ext>
              </a:extLst>
            </p:cNvPr>
            <p:cNvSpPr/>
            <p:nvPr userDrawn="1"/>
          </p:nvSpPr>
          <p:spPr>
            <a:xfrm>
              <a:off x="24554" y="448418"/>
              <a:ext cx="144000" cy="684000"/>
            </a:xfrm>
            <a:prstGeom prst="rect">
              <a:avLst/>
            </a:prstGeom>
            <a:solidFill>
              <a:srgbClr val="FFB400"/>
            </a:solidFill>
            <a:ln>
              <a:solidFill>
                <a:srgbClr val="FFB4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84370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0" y="1"/>
            <a:ext cx="9144000" cy="1124744"/>
          </a:xfrm>
          <a:solidFill>
            <a:schemeClr val="bg1"/>
          </a:solidFill>
        </p:spPr>
        <p:txBody>
          <a:bodyPr/>
          <a:lstStyle>
            <a:lvl1pPr>
              <a:defRPr sz="4000"/>
            </a:lvl1pPr>
          </a:lstStyle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246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0" y="2997200"/>
            <a:ext cx="9144000" cy="122237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 b="1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defRPr>
            </a:lvl1pPr>
          </a:lstStyle>
          <a:p>
            <a:r>
              <a:rPr lang="en-US" noProof="0"/>
              <a:t>Click to edit Master subtitle style</a:t>
            </a:r>
            <a:endParaRPr lang="hr-HR" noProof="0" dirty="0"/>
          </a:p>
        </p:txBody>
      </p:sp>
      <p:sp>
        <p:nvSpPr>
          <p:cNvPr id="170" name="Rectangle 325"/>
          <p:cNvSpPr>
            <a:spLocks noChangeArrowheads="1"/>
          </p:cNvSpPr>
          <p:nvPr/>
        </p:nvSpPr>
        <p:spPr bwMode="auto">
          <a:xfrm>
            <a:off x="0" y="3573463"/>
            <a:ext cx="9144000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eaLnBrk="1" hangingPunct="1">
              <a:spcBef>
                <a:spcPct val="20000"/>
              </a:spcBef>
              <a:buClr>
                <a:schemeClr val="hlink"/>
              </a:buClr>
              <a:buSzPct val="65000"/>
              <a:buFont typeface="Wingdings" pitchFamily="2" charset="2"/>
              <a:buNone/>
              <a:defRPr/>
            </a:pPr>
            <a:endParaRPr lang="hr-HR" sz="2800" noProof="0" dirty="0">
              <a:solidFill>
                <a:srgbClr val="FF9900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4358" y="5597395"/>
            <a:ext cx="619125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892974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19138"/>
          </a:xfrm>
        </p:spPr>
        <p:txBody>
          <a:bodyPr/>
          <a:lstStyle/>
          <a:p>
            <a:r>
              <a:rPr lang="en-US" noProof="0"/>
              <a:t>Click to edit Master title style</a:t>
            </a:r>
            <a:endParaRPr lang="hr-HR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836613"/>
            <a:ext cx="4495800" cy="554513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hr-HR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3282859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lank">
            <a:extLst>
              <a:ext uri="{FF2B5EF4-FFF2-40B4-BE49-F238E27FC236}">
                <a16:creationId xmlns:a16="http://schemas.microsoft.com/office/drawing/2014/main" id="{DF900481-7CD7-44CE-90E6-3583037D52D9}"/>
              </a:ext>
            </a:extLst>
          </p:cNvPr>
          <p:cNvSpPr/>
          <p:nvPr/>
        </p:nvSpPr>
        <p:spPr bwMode="auto">
          <a:xfrm>
            <a:off x="13527" y="-4384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3"/>
          </a:xfrm>
          <a:effectLst/>
        </p:spPr>
        <p:txBody>
          <a:bodyPr anchor="b" anchorCtr="1"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2949" y="5227023"/>
            <a:ext cx="8245160" cy="59032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 cap="none">
                <a:solidFill>
                  <a:schemeClr val="tx1"/>
                </a:solidFill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pic>
        <p:nvPicPr>
          <p:cNvPr id="11" name="UNI_Logo">
            <a:extLst>
              <a:ext uri="{FF2B5EF4-FFF2-40B4-BE49-F238E27FC236}">
                <a16:creationId xmlns:a16="http://schemas.microsoft.com/office/drawing/2014/main" id="{B60ABF21-F805-4F5C-9378-DA9D7D2CB64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606" t="17629" r="15252" b="19248"/>
          <a:stretch/>
        </p:blipFill>
        <p:spPr>
          <a:xfrm>
            <a:off x="6770836" y="262594"/>
            <a:ext cx="727345" cy="720000"/>
          </a:xfrm>
          <a:prstGeom prst="rect">
            <a:avLst/>
          </a:prstGeom>
        </p:spPr>
      </p:pic>
      <p:pic>
        <p:nvPicPr>
          <p:cNvPr id="12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EC1CAE0A-3E29-4F8A-A85F-FFEEA39080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 amt="79000"/>
          </a:blip>
          <a:srcRect l="13474" t="23715" r="15700" b="21450"/>
          <a:stretch/>
        </p:blipFill>
        <p:spPr>
          <a:xfrm>
            <a:off x="7629063" y="345375"/>
            <a:ext cx="1188000" cy="582400"/>
          </a:xfrm>
          <a:prstGeom prst="rect">
            <a:avLst/>
          </a:prstGeom>
        </p:spPr>
      </p:pic>
      <p:sp>
        <p:nvSpPr>
          <p:cNvPr id="13" name="Course">
            <a:extLst>
              <a:ext uri="{FF2B5EF4-FFF2-40B4-BE49-F238E27FC236}">
                <a16:creationId xmlns:a16="http://schemas.microsoft.com/office/drawing/2014/main" id="{606EE227-E1A4-48CD-8072-A5BFFE497034}"/>
              </a:ext>
            </a:extLst>
          </p:cNvPr>
          <p:cNvSpPr txBox="1"/>
          <p:nvPr/>
        </p:nvSpPr>
        <p:spPr>
          <a:xfrm>
            <a:off x="6309966" y="2336793"/>
            <a:ext cx="2398143" cy="56147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noProof="0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Programsko inženjerstvo</a:t>
            </a:r>
          </a:p>
          <a:p>
            <a:pPr marL="0" algn="l" defTabSz="457200" rtl="0" eaLnBrk="1" latinLnBrk="0" hangingPunct="1">
              <a:lnSpc>
                <a:spcPct val="110000"/>
              </a:lnSpc>
            </a:pPr>
            <a:r>
              <a:rPr lang="hr-HR" sz="1800" b="1" kern="1200" cap="small" dirty="0">
                <a:solidFill>
                  <a:srgbClr val="363636"/>
                </a:solidFill>
                <a:latin typeface="Century Gothic" panose="020B0502020202020204" pitchFamily="34" charset="0"/>
                <a:ea typeface="+mn-ea"/>
                <a:cs typeface="+mn-cs"/>
              </a:rPr>
              <a:t>ID 183400</a:t>
            </a:r>
            <a:endParaRPr lang="en-US" sz="1200" noProof="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A5D7BB-0877-4A5C-8FF5-FD8D403DFC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70" y="0"/>
            <a:ext cx="3204212" cy="27740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0074D2-401D-5430-6887-B383F93FE29E}"/>
              </a:ext>
            </a:extLst>
          </p:cNvPr>
          <p:cNvSpPr txBox="1"/>
          <p:nvPr userDrawn="1"/>
        </p:nvSpPr>
        <p:spPr>
          <a:xfrm>
            <a:off x="2757249" y="3266875"/>
            <a:ext cx="33702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Prezentacija</a:t>
            </a:r>
            <a:r>
              <a:rPr lang="hr-HR" sz="2000" noProof="0" dirty="0">
                <a:latin typeface="Franklin Gothic Demi" panose="020B0703020102020204" pitchFamily="34" charset="0"/>
              </a:rPr>
              <a:t> </a:t>
            </a:r>
            <a:r>
              <a:rPr lang="hr-HR" sz="2000" b="0" kern="1200" cap="all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Franklin Gothic Demi" panose="020B0703020102020204" pitchFamily="34" charset="0"/>
                <a:ea typeface="+mj-ea"/>
                <a:cs typeface="+mj-cs"/>
              </a:rPr>
              <a:t>projekta</a:t>
            </a:r>
          </a:p>
        </p:txBody>
      </p:sp>
    </p:spTree>
    <p:extLst>
      <p:ext uri="{BB962C8B-B14F-4D97-AF65-F5344CB8AC3E}">
        <p14:creationId xmlns:p14="http://schemas.microsoft.com/office/powerpoint/2010/main" val="20511837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99" y="972000"/>
            <a:ext cx="9000000" cy="5400000"/>
          </a:xfrm>
        </p:spPr>
        <p:txBody>
          <a:bodyPr/>
          <a:lstStyle>
            <a:lvl1pPr marL="266700" indent="-266700">
              <a:defRPr>
                <a:solidFill>
                  <a:schemeClr val="tx1"/>
                </a:solidFill>
              </a:defRPr>
            </a:lvl1pPr>
            <a:lvl2pPr marL="486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5975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6" y="2393953"/>
            <a:ext cx="8272211" cy="2147467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6" y="4541417"/>
            <a:ext cx="827221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400" cap="all">
                <a:solidFill>
                  <a:schemeClr val="accent1"/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A2C86E-F1C7-46E0-95C6-696D16C6C694}" type="slidenum">
              <a:rPr lang="hr-HR" noProof="0" smtClean="0"/>
              <a:pPr>
                <a:defRPr/>
              </a:pPr>
              <a:t>‹#›</a:t>
            </a:fld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3430365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999" y="972000"/>
            <a:ext cx="4680000" cy="5400000"/>
          </a:xfrm>
        </p:spPr>
        <p:txBody>
          <a:bodyPr>
            <a:normAutofit/>
          </a:bodyPr>
          <a:lstStyle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2030" y="972000"/>
            <a:ext cx="4259971" cy="5400000"/>
          </a:xfrm>
        </p:spPr>
        <p:txBody>
          <a:bodyPr>
            <a:normAutofit/>
          </a:bodyPr>
          <a:lstStyle>
            <a:lvl2pPr marL="396000" indent="-252000">
              <a:lnSpc>
                <a:spcPct val="100000"/>
              </a:lnSpc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3632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92000" y="-8857"/>
            <a:ext cx="7920000" cy="864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998" y="991413"/>
            <a:ext cx="4680000" cy="557784"/>
          </a:xfrm>
        </p:spPr>
        <p:txBody>
          <a:bodyPr anchor="ctr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8" y="1668252"/>
            <a:ext cx="4680000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12031" y="991417"/>
            <a:ext cx="4212288" cy="553373"/>
          </a:xfrm>
        </p:spPr>
        <p:txBody>
          <a:bodyPr anchor="ctr">
            <a:noAutofit/>
          </a:bodyPr>
          <a:lstStyle>
            <a:lvl1pPr marL="0" marR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marL="0" marR="0" lvl="0" indent="0" algn="l" defTabSz="25717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338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12028" y="1663842"/>
            <a:ext cx="4212288" cy="4669486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53283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6148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/>
          </a:p>
        </p:txBody>
      </p:sp>
      <p:sp>
        <p:nvSpPr>
          <p:cNvPr id="5" name="Blank">
            <a:extLst>
              <a:ext uri="{FF2B5EF4-FFF2-40B4-BE49-F238E27FC236}">
                <a16:creationId xmlns:a16="http://schemas.microsoft.com/office/drawing/2014/main" id="{B6B16F86-9808-4367-B20B-899AF3F2BA32}"/>
              </a:ext>
            </a:extLst>
          </p:cNvPr>
          <p:cNvSpPr/>
          <p:nvPr/>
        </p:nvSpPr>
        <p:spPr bwMode="auto">
          <a:xfrm>
            <a:off x="0" y="0"/>
            <a:ext cx="9144000" cy="9906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lg" len="lg"/>
          </a:ln>
          <a:effectLst/>
        </p:spPr>
        <p:txBody>
          <a:bodyPr vert="horz" wrap="none" lIns="50899" tIns="25004" rIns="50899" bIns="25004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 algn="ctr" defTabSz="5143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r-HR" sz="1125" b="1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Franklin Gothic Medium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33650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894" y="1008824"/>
            <a:ext cx="2273889" cy="1722419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5698" y="1008824"/>
            <a:ext cx="4988243" cy="5294004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100">
                <a:solidFill>
                  <a:schemeClr val="tx2"/>
                </a:solidFill>
              </a:defRPr>
            </a:lvl4pPr>
            <a:lvl5pPr>
              <a:defRPr sz="1100">
                <a:solidFill>
                  <a:schemeClr val="tx2"/>
                </a:solidFill>
              </a:defRPr>
            </a:lvl5pPr>
            <a:lvl6pPr>
              <a:defRPr sz="788">
                <a:solidFill>
                  <a:schemeClr val="tx2"/>
                </a:solidFill>
              </a:defRPr>
            </a:lvl6pPr>
            <a:lvl7pPr>
              <a:defRPr sz="788">
                <a:solidFill>
                  <a:schemeClr val="tx2"/>
                </a:solidFill>
              </a:defRPr>
            </a:lvl7pPr>
            <a:lvl8pPr>
              <a:defRPr sz="788">
                <a:solidFill>
                  <a:schemeClr val="tx2"/>
                </a:solidFill>
              </a:defRPr>
            </a:lvl8pPr>
            <a:lvl9pPr>
              <a:defRPr sz="788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5894" y="2836656"/>
            <a:ext cx="2273889" cy="3466175"/>
          </a:xfrm>
        </p:spPr>
        <p:txBody>
          <a:bodyPr anchor="t">
            <a:normAutofit/>
          </a:bodyPr>
          <a:lstStyle>
            <a:lvl1pPr marL="0" indent="0" algn="l">
              <a:buNone/>
              <a:defRPr sz="900">
                <a:solidFill>
                  <a:srgbClr val="FFFFFF"/>
                </a:solidFill>
              </a:defRPr>
            </a:lvl1pPr>
            <a:lvl2pPr marL="257175" indent="0">
              <a:buNone/>
              <a:defRPr sz="619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04465" y="6456919"/>
            <a:ext cx="2133599" cy="365125"/>
          </a:xfrm>
        </p:spPr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231" y="6452593"/>
            <a:ext cx="4836571" cy="365125"/>
          </a:xfrm>
        </p:spPr>
        <p:txBody>
          <a:bodyPr/>
          <a:lstStyle/>
          <a:p>
            <a:endParaRPr lang="hr-HR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6" y="6456919"/>
            <a:ext cx="789383" cy="365125"/>
          </a:xfrm>
        </p:spPr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6468548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4693389"/>
            <a:ext cx="8272212" cy="566738"/>
          </a:xfrm>
        </p:spPr>
        <p:txBody>
          <a:bodyPr anchor="b">
            <a:normAutofit/>
          </a:bodyPr>
          <a:lstStyle>
            <a:lvl1pPr algn="l"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7929" y="1042141"/>
            <a:ext cx="8468144" cy="3485610"/>
          </a:xfrm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5" y="5260127"/>
            <a:ext cx="8272213" cy="998148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99510302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51248466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043613" y="599725"/>
            <a:ext cx="2765487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53150" y="863600"/>
            <a:ext cx="234315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4" y="863600"/>
            <a:ext cx="5371219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34901" y="457200"/>
            <a:ext cx="277749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3181373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677989066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9EB10-FBF8-4CBA-B026-F8DE91FFE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13" y="123825"/>
            <a:ext cx="8999537" cy="533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16ABA-433E-479F-BD29-1C844B0A1F5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361950" y="1052513"/>
            <a:ext cx="4168775" cy="5043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Online Image Placeholder 3">
            <a:extLst>
              <a:ext uri="{FF2B5EF4-FFF2-40B4-BE49-F238E27FC236}">
                <a16:creationId xmlns:a16="http://schemas.microsoft.com/office/drawing/2014/main" id="{B4264813-3E43-478F-B65D-0BC0200A93E3}"/>
              </a:ext>
            </a:extLst>
          </p:cNvPr>
          <p:cNvSpPr>
            <a:spLocks noGrp="1"/>
          </p:cNvSpPr>
          <p:nvPr>
            <p:ph type="clipArt" sz="half" idx="2"/>
          </p:nvPr>
        </p:nvSpPr>
        <p:spPr>
          <a:xfrm>
            <a:off x="4683125" y="1052513"/>
            <a:ext cx="4168775" cy="5043487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81678076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05A3D-D87F-4AF2-BA78-EC513449E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8" y="1643063"/>
            <a:ext cx="8964612" cy="56197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9B210-E8A1-4163-B353-9596A4987A6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79388" y="2349500"/>
            <a:ext cx="4316412" cy="3959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5EE46-BB07-40D1-BA76-9A68CCF90965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2349500"/>
            <a:ext cx="4316413" cy="1903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13EFCE-9805-4C10-9F35-FE6B61EEEB78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4405313"/>
            <a:ext cx="4316413" cy="19034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B9D8B36-6841-48AB-ACDD-303377A5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4438" y="6453188"/>
            <a:ext cx="1773237" cy="319087"/>
          </a:xfrm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7546225-D832-45D6-9D1F-C2C298013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53188"/>
            <a:ext cx="2895600" cy="319087"/>
          </a:xfrm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93AD3A-68A5-4246-9D01-4FF480FA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02450" y="6440488"/>
            <a:ext cx="2133600" cy="319087"/>
          </a:xfrm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71035309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2E4BB-D381-461E-98CE-EC214FB2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222250"/>
            <a:ext cx="8153400" cy="704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5E26-D24E-448B-A60D-AC4ADA325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295400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580C4-0743-475D-99BC-A08C21692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55600" y="3832225"/>
            <a:ext cx="8255000" cy="2384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07078345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1">
            <a:extLst>
              <a:ext uri="{FF2B5EF4-FFF2-40B4-BE49-F238E27FC236}">
                <a16:creationId xmlns:a16="http://schemas.microsoft.com/office/drawing/2014/main" id="{33B67453-1C01-4A88-9B88-0395558C4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59563"/>
            <a:ext cx="9144000" cy="198437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EB15CA-4405-4999-8824-E5B89AB2F4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00" y="5734050"/>
            <a:ext cx="85090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sr-Latn-RS" altLang="sr-Latn-RS" sz="1800" b="0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1604BB0-89C9-40DD-B4C1-65ECA21B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638175"/>
          </a:xfrm>
          <a:prstGeom prst="rect">
            <a:avLst/>
          </a:prstGeom>
          <a:solidFill>
            <a:srgbClr val="9EC54A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sr-Latn-RS" altLang="sr-Latn-RS" sz="2400" b="0" dirty="0">
              <a:ea typeface="ＭＳ Ｐゴシック" panose="020B0600070205080204" pitchFamily="34" charset="-128"/>
            </a:endParaRPr>
          </a:p>
        </p:txBody>
      </p:sp>
      <p:sp>
        <p:nvSpPr>
          <p:cNvPr id="7" name="Line 12">
            <a:extLst>
              <a:ext uri="{FF2B5EF4-FFF2-40B4-BE49-F238E27FC236}">
                <a16:creationId xmlns:a16="http://schemas.microsoft.com/office/drawing/2014/main" id="{EEC9831C-2EE5-4AB4-811F-0FD7517A5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3500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8" name="Line 13">
            <a:extLst>
              <a:ext uri="{FF2B5EF4-FFF2-40B4-BE49-F238E27FC236}">
                <a16:creationId xmlns:a16="http://schemas.microsoft.com/office/drawing/2014/main" id="{FB57BD19-2365-4510-B140-A8BF46017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6661150"/>
            <a:ext cx="9144000" cy="0"/>
          </a:xfrm>
          <a:prstGeom prst="line">
            <a:avLst/>
          </a:prstGeom>
          <a:noFill/>
          <a:ln w="12700">
            <a:solidFill>
              <a:srgbClr val="E6C01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hr-HR" dirty="0"/>
          </a:p>
        </p:txBody>
      </p:sp>
      <p:sp>
        <p:nvSpPr>
          <p:cNvPr id="9" name="Text Box 14">
            <a:extLst>
              <a:ext uri="{FF2B5EF4-FFF2-40B4-BE49-F238E27FC236}">
                <a16:creationId xmlns:a16="http://schemas.microsoft.com/office/drawing/2014/main" id="{E9247816-F8A1-437D-8876-CE3B543F5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39175" y="6689725"/>
            <a:ext cx="5048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E3A00050-2AD2-4E24-A959-018DA26B4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2125" y="6376988"/>
            <a:ext cx="844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600" b="1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endParaRPr lang="sr-Latn-RS" altLang="sr-Latn-RS" b="0" dirty="0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240486D-8BBC-4E5F-AE3E-87568EC3A9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2038" y="6626225"/>
            <a:ext cx="606425" cy="24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0"/>
              </a:spcBef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fld id="{5487ECC7-754E-4F59-8E24-696A1ED399B9}" type="slidenum">
              <a:rPr lang="de-DE" altLang="sr-Latn-RS" sz="1000" b="0" smtClean="0">
                <a:solidFill>
                  <a:schemeClr val="bg1"/>
                </a:solidFill>
              </a:rPr>
              <a:pPr eaLnBrk="1" hangingPunct="1">
                <a:defRPr/>
              </a:pPr>
              <a:t>‹#›</a:t>
            </a:fld>
            <a:endParaRPr lang="de-DE" altLang="sr-Latn-RS" sz="1000" b="0" dirty="0">
              <a:solidFill>
                <a:schemeClr val="bg1"/>
              </a:solidFill>
            </a:endParaRPr>
          </a:p>
        </p:txBody>
      </p:sp>
      <p:pic>
        <p:nvPicPr>
          <p:cNvPr id="12" name="Picture 9" descr="MCAST">
            <a:extLst>
              <a:ext uri="{FF2B5EF4-FFF2-40B4-BE49-F238E27FC236}">
                <a16:creationId xmlns:a16="http://schemas.microsoft.com/office/drawing/2014/main" id="{5EBDEE4A-5D09-433E-904F-F1650F13C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3313" y="185738"/>
            <a:ext cx="1484312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EE17B41-E6B1-4669-AD1B-D326DFF0B618}"/>
              </a:ext>
            </a:extLst>
          </p:cNvPr>
          <p:cNvSpPr txBox="1"/>
          <p:nvPr/>
        </p:nvSpPr>
        <p:spPr>
          <a:xfrm>
            <a:off x="0" y="6657975"/>
            <a:ext cx="9144000" cy="214313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15000"/>
              </a:lnSpc>
              <a:spcAft>
                <a:spcPts val="1000"/>
              </a:spcAft>
              <a:defRPr/>
            </a:pPr>
            <a:r>
              <a:rPr lang="en-US" sz="700" b="0" dirty="0">
                <a:ea typeface="Times New Roman"/>
                <a:cs typeface="Times New Roman"/>
              </a:rPr>
              <a:t>A Vocational Degree programme developed by MCAST and Fraunhofer IAO.</a:t>
            </a:r>
            <a:endParaRPr lang="de-DE" sz="700" b="0" dirty="0">
              <a:ea typeface="Times New Roman"/>
              <a:cs typeface="Times New Roman"/>
            </a:endParaRPr>
          </a:p>
        </p:txBody>
      </p:sp>
      <p:pic>
        <p:nvPicPr>
          <p:cNvPr id="14" name="Grafik 13" descr="C:\Dokumente und Einstellungen\sahin\Desktop\iao_85mm_p334.png">
            <a:extLst>
              <a:ext uri="{FF2B5EF4-FFF2-40B4-BE49-F238E27FC236}">
                <a16:creationId xmlns:a16="http://schemas.microsoft.com/office/drawing/2014/main" id="{118DF992-D6B3-42BA-B7AF-94ADD5D83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425" y="155575"/>
            <a:ext cx="1384300" cy="376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Inhaltsplatzhalter 14"/>
          <p:cNvSpPr>
            <a:spLocks noGrp="1"/>
          </p:cNvSpPr>
          <p:nvPr>
            <p:ph sz="quarter" idx="10"/>
          </p:nvPr>
        </p:nvSpPr>
        <p:spPr>
          <a:xfrm>
            <a:off x="372122" y="1917577"/>
            <a:ext cx="8443404" cy="447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081" y="859963"/>
            <a:ext cx="8422689" cy="755773"/>
          </a:xfrm>
        </p:spPr>
        <p:txBody>
          <a:bodyPr anchor="b"/>
          <a:lstStyle>
            <a:lvl1pPr algn="ctr">
              <a:defRPr sz="2200" smtClean="0">
                <a:latin typeface="Arial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2403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150938" y="533400"/>
            <a:ext cx="7793037" cy="769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0" y="1676400"/>
            <a:ext cx="9144000" cy="4456113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  <a:endParaRPr lang="es-ES" noProof="0" dirty="0"/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878ED30-4CA5-4F36-903B-BB1F88A7DCD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3616777E-FC54-4224-94BE-6841457432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hr-HR" dirty="0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2A5E6CE-E56A-416E-B8B3-DBFD0971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645687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6308" y="3685740"/>
            <a:ext cx="7772400" cy="2387600"/>
          </a:xfrm>
        </p:spPr>
        <p:txBody>
          <a:bodyPr lIns="252000" tIns="46800" rIns="252000"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8284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21" Type="http://schemas.microsoft.com/office/2007/relationships/hdphoto" Target="../media/hdphoto1.wdp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8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580548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00" y="36000"/>
            <a:ext cx="7920000" cy="828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" y="972000"/>
            <a:ext cx="9000000" cy="540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63534" y="6501038"/>
            <a:ext cx="940649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46E8F5E-7C26-4DBA-9CDF-6E3092DFB447}" type="datetime1">
              <a:rPr lang="hr-HR" smtClean="0"/>
              <a:t>23.01.2026.</a:t>
            </a:fld>
            <a:endParaRPr lang="hr-H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8803" y="6501039"/>
            <a:ext cx="6759654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hr-H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49260" y="6501038"/>
            <a:ext cx="475056" cy="288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AA41844-C0CA-4144-9D6C-D993F0C0FAB4}" type="slidenum">
              <a:rPr lang="hr-HR" smtClean="0"/>
              <a:t>‹#›</a:t>
            </a:fld>
            <a:endParaRPr lang="hr-HR" dirty="0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89CEFA33-B437-4AA3-8275-93D2FF8194BB}"/>
              </a:ext>
            </a:extLst>
          </p:cNvPr>
          <p:cNvSpPr>
            <a:spLocks noChangeArrowheads="1"/>
          </p:cNvSpPr>
          <p:nvPr/>
        </p:nvSpPr>
        <p:spPr bwMode="gray">
          <a:xfrm>
            <a:off x="71999" y="887249"/>
            <a:ext cx="9000000" cy="45719"/>
          </a:xfrm>
          <a:prstGeom prst="rect">
            <a:avLst/>
          </a:prstGeom>
          <a:gradFill rotWithShape="0">
            <a:gsLst>
              <a:gs pos="3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sp>
        <p:nvSpPr>
          <p:cNvPr id="20" name="Rectangle 7">
            <a:extLst>
              <a:ext uri="{FF2B5EF4-FFF2-40B4-BE49-F238E27FC236}">
                <a16:creationId xmlns:a16="http://schemas.microsoft.com/office/drawing/2014/main" id="{73C7DFB0-5E2B-4809-9C0B-ED751F99515E}"/>
              </a:ext>
            </a:extLst>
          </p:cNvPr>
          <p:cNvSpPr>
            <a:spLocks noChangeArrowheads="1"/>
          </p:cNvSpPr>
          <p:nvPr/>
        </p:nvSpPr>
        <p:spPr bwMode="gray">
          <a:xfrm>
            <a:off x="2" y="6816222"/>
            <a:ext cx="9143999" cy="36000"/>
          </a:xfrm>
          <a:prstGeom prst="rect">
            <a:avLst/>
          </a:prstGeom>
          <a:gradFill rotWithShape="0">
            <a:gsLst>
              <a:gs pos="3000">
                <a:schemeClr val="bg1">
                  <a:alpha val="56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eaLnBrk="1" hangingPunct="1">
              <a:defRPr/>
            </a:pPr>
            <a:endParaRPr kumimoji="1" lang="hr-HR" sz="1350" b="0" noProof="0" dirty="0">
              <a:latin typeface="Tahoma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FB4C7E3-BB36-4260-BA39-D064CCA029A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394" y="171448"/>
            <a:ext cx="697230" cy="548640"/>
          </a:xfrm>
          <a:prstGeom prst="rect">
            <a:avLst/>
          </a:prstGeom>
        </p:spPr>
      </p:pic>
      <p:pic>
        <p:nvPicPr>
          <p:cNvPr id="24" name="FER_logo" descr="A close up of a logo&#10;&#10;Description automatically generated">
            <a:extLst>
              <a:ext uri="{FF2B5EF4-FFF2-40B4-BE49-F238E27FC236}">
                <a16:creationId xmlns:a16="http://schemas.microsoft.com/office/drawing/2014/main" id="{75090067-1575-4BA5-A613-FCA8F5BA830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79000"/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artisticPhotocopy/>
                    </a14:imgEffect>
                  </a14:imgLayer>
                </a14:imgProps>
              </a:ext>
            </a:extLst>
          </a:blip>
          <a:srcRect l="13474" t="23715" r="15700" b="21450"/>
          <a:stretch/>
        </p:blipFill>
        <p:spPr>
          <a:xfrm>
            <a:off x="8469403" y="296918"/>
            <a:ext cx="634769" cy="30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18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hf hdr="0" ftr="0" dt="0"/>
  <p:txStyles>
    <p:titleStyle>
      <a:lvl1pPr algn="ctr" defTabSz="257175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2000" indent="-252000" algn="l" defTabSz="257175" rtl="0" eaLnBrk="1" latinLnBrk="0" hangingPunct="1">
        <a:lnSpc>
          <a:spcPct val="110000"/>
        </a:lnSpc>
        <a:spcBef>
          <a:spcPts val="5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400" kern="1200">
          <a:ln>
            <a:noFill/>
          </a:ln>
          <a:solidFill>
            <a:schemeClr val="tx1"/>
          </a:solidFill>
          <a:latin typeface="+mn-lt"/>
          <a:ea typeface="+mn-ea"/>
          <a:cs typeface="+mn-cs"/>
        </a:defRPr>
      </a:lvl1pPr>
      <a:lvl2pPr marL="396000" indent="-252000" algn="l" defTabSz="257175" rtl="0" eaLnBrk="1" latinLnBrk="0" hangingPunct="1">
        <a:spcBef>
          <a:spcPts val="400"/>
        </a:spcBef>
        <a:spcAft>
          <a:spcPts val="3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06250" indent="-15187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986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1125" indent="-131625" algn="l" defTabSz="257175" rtl="0" eaLnBrk="1" latinLnBrk="0" hangingPunct="1">
        <a:spcBef>
          <a:spcPct val="20000"/>
        </a:spcBef>
        <a:spcAft>
          <a:spcPts val="338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87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6pPr>
      <a:lvl7pPr marL="12375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7pPr>
      <a:lvl8pPr marL="140625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8pPr>
      <a:lvl9pPr marL="1575000" indent="-128588" algn="l" defTabSz="257175" rtl="0" eaLnBrk="1" latinLnBrk="0" hangingPunct="1">
        <a:spcBef>
          <a:spcPct val="20000"/>
        </a:spcBef>
        <a:spcAft>
          <a:spcPts val="338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675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257175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7" Type="http://schemas.openxmlformats.org/officeDocument/2006/relationships/image" Target="../media/image24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2947" y="3752009"/>
            <a:ext cx="8245162" cy="14750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r-HR" sz="4000" noProof="0" dirty="0"/>
              <a:t>STANPLAN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09DD34-BFD2-8305-42BF-AA42E093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328" y="5227023"/>
            <a:ext cx="7772400" cy="590321"/>
          </a:xfrm>
        </p:spPr>
        <p:txBody>
          <a:bodyPr>
            <a:normAutofit lnSpcReduction="10000"/>
          </a:bodyPr>
          <a:lstStyle/>
          <a:p>
            <a:r>
              <a:rPr lang="hr-HR" sz="1400" noProof="0" dirty="0"/>
              <a:t>Tim:  TG </a:t>
            </a:r>
            <a:r>
              <a:rPr lang="hr-HR" sz="1400" dirty="0"/>
              <a:t>09</a:t>
            </a:r>
            <a:r>
              <a:rPr lang="hr-HR" sz="1400" noProof="0" dirty="0"/>
              <a:t>.</a:t>
            </a:r>
            <a:r>
              <a:rPr lang="hr-HR" sz="1400" dirty="0"/>
              <a:t>2</a:t>
            </a:r>
            <a:r>
              <a:rPr lang="hr-HR" sz="1400" noProof="0" dirty="0"/>
              <a:t> PČELICE</a:t>
            </a:r>
          </a:p>
          <a:p>
            <a:r>
              <a:rPr lang="hr-HR" noProof="0" dirty="0"/>
              <a:t>Ak. god. 2025./2026.</a:t>
            </a:r>
          </a:p>
        </p:txBody>
      </p:sp>
    </p:spTree>
    <p:extLst>
      <p:ext uri="{BB962C8B-B14F-4D97-AF65-F5344CB8AC3E}">
        <p14:creationId xmlns:p14="http://schemas.microsoft.com/office/powerpoint/2010/main" val="365784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6CB0F54-7862-2508-EDB2-877BCE433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Članovi tima</a:t>
            </a:r>
          </a:p>
          <a:p>
            <a:r>
              <a:rPr lang="hr-HR" dirty="0"/>
              <a:t>Opis zadatka</a:t>
            </a:r>
            <a:endParaRPr lang="hr-HR" noProof="0" dirty="0"/>
          </a:p>
          <a:p>
            <a:r>
              <a:rPr lang="hr-HR" noProof="0" dirty="0"/>
              <a:t>Cilj projekta</a:t>
            </a:r>
          </a:p>
          <a:p>
            <a:r>
              <a:rPr lang="hr-HR" noProof="0" dirty="0"/>
              <a:t>Analiza i oblikovanje sustava	</a:t>
            </a:r>
          </a:p>
          <a:p>
            <a:pPr lvl="1"/>
            <a:r>
              <a:rPr lang="hr-HR" noProof="0" dirty="0"/>
              <a:t>Zahtjevi</a:t>
            </a:r>
          </a:p>
          <a:p>
            <a:pPr lvl="1"/>
            <a:r>
              <a:rPr lang="hr-HR" noProof="0" dirty="0"/>
              <a:t>Arhitektura</a:t>
            </a:r>
          </a:p>
          <a:p>
            <a:r>
              <a:rPr lang="hr-HR" dirty="0"/>
              <a:t>Ispitivanje</a:t>
            </a:r>
          </a:p>
          <a:p>
            <a:r>
              <a:rPr lang="hr-HR" dirty="0"/>
              <a:t>Korišteni alati i tehnologije</a:t>
            </a:r>
            <a:endParaRPr lang="hr-HR" noProof="0" dirty="0"/>
          </a:p>
          <a:p>
            <a:r>
              <a:rPr lang="hr-HR" noProof="0" dirty="0"/>
              <a:t>Organizacija rada </a:t>
            </a:r>
          </a:p>
          <a:p>
            <a:r>
              <a:rPr lang="hr-HR" noProof="0" dirty="0"/>
              <a:t>Iskustva</a:t>
            </a: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pPr/>
              <a:t>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712565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CC5E-8F0C-4678-41F6-563B723DD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Članovi grupe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85B14-6D23-2394-890E-2F2CE0684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Dominik Topić - </a:t>
            </a:r>
            <a:r>
              <a:rPr lang="en-GB" dirty="0" err="1"/>
              <a:t>arhitektura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baza</a:t>
            </a:r>
            <a:r>
              <a:rPr lang="en-GB" dirty="0"/>
              <a:t> </a:t>
            </a:r>
            <a:r>
              <a:rPr lang="en-GB" dirty="0" err="1"/>
              <a:t>podataka</a:t>
            </a:r>
            <a:r>
              <a:rPr lang="en-GB" dirty="0"/>
              <a:t>, deploy</a:t>
            </a:r>
          </a:p>
          <a:p>
            <a:r>
              <a:rPr lang="en-GB" dirty="0"/>
              <a:t>Bruno Pleše - backend </a:t>
            </a:r>
          </a:p>
          <a:p>
            <a:r>
              <a:rPr lang="en-GB" dirty="0"/>
              <a:t>Luka Sever - </a:t>
            </a:r>
            <a:r>
              <a:rPr lang="en-GB" dirty="0" err="1"/>
              <a:t>voditelj</a:t>
            </a:r>
            <a:r>
              <a:rPr lang="en-GB" dirty="0"/>
              <a:t>, frontend, testing</a:t>
            </a:r>
          </a:p>
          <a:p>
            <a:r>
              <a:rPr lang="en-GB" dirty="0"/>
              <a:t>Diana Agejev - QA, </a:t>
            </a:r>
            <a:r>
              <a:rPr lang="en-GB" dirty="0" err="1"/>
              <a:t>dokumentacija</a:t>
            </a:r>
            <a:endParaRPr lang="en-GB" dirty="0"/>
          </a:p>
          <a:p>
            <a:r>
              <a:rPr lang="en-GB" dirty="0"/>
              <a:t>Vito </a:t>
            </a:r>
            <a:r>
              <a:rPr lang="en-GB" dirty="0" err="1"/>
              <a:t>Gašparac</a:t>
            </a:r>
            <a:r>
              <a:rPr lang="en-GB" dirty="0"/>
              <a:t> - backend </a:t>
            </a:r>
          </a:p>
          <a:p>
            <a:r>
              <a:rPr lang="en-GB" dirty="0"/>
              <a:t>Amalija </a:t>
            </a:r>
            <a:r>
              <a:rPr lang="en-GB" dirty="0" err="1"/>
              <a:t>Novalić</a:t>
            </a:r>
            <a:r>
              <a:rPr lang="en-GB" dirty="0"/>
              <a:t> - frontend </a:t>
            </a:r>
          </a:p>
          <a:p>
            <a:r>
              <a:rPr lang="en-GB" dirty="0"/>
              <a:t>Dora Vukelić - </a:t>
            </a:r>
            <a:r>
              <a:rPr lang="en-GB" dirty="0" err="1"/>
              <a:t>devops</a:t>
            </a:r>
            <a:r>
              <a:rPr lang="en-GB" dirty="0"/>
              <a:t>, frontend</a:t>
            </a:r>
            <a:endParaRPr lang="hr-HR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E38AF-35BC-BD40-AC94-1AB4341B3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3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035151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A0B7E-6D2D-545E-3942-807E5763C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99" y="36000"/>
            <a:ext cx="7920000" cy="828262"/>
          </a:xfrm>
        </p:spPr>
        <p:txBody>
          <a:bodyPr/>
          <a:lstStyle/>
          <a:p>
            <a:r>
              <a:rPr lang="hr-HR" noProof="0" dirty="0"/>
              <a:t>O projektu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DC0A7-2EBE-B97D-F71C-97BD62047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" y="971999"/>
            <a:ext cx="9000000" cy="5721877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 err="1"/>
              <a:t>Ukratko</a:t>
            </a:r>
            <a:r>
              <a:rPr lang="en-GB" b="1" dirty="0"/>
              <a:t>: </a:t>
            </a:r>
            <a:r>
              <a:rPr lang="en-GB" b="1" dirty="0" err="1"/>
              <a:t>Što</a:t>
            </a:r>
            <a:r>
              <a:rPr lang="en-GB" b="1" dirty="0"/>
              <a:t> </a:t>
            </a:r>
            <a:r>
              <a:rPr lang="en-GB" b="1" dirty="0" err="1"/>
              <a:t>aplikacija</a:t>
            </a:r>
            <a:r>
              <a:rPr lang="en-GB" b="1" dirty="0"/>
              <a:t> </a:t>
            </a:r>
            <a:r>
              <a:rPr lang="en-GB" b="1" dirty="0" err="1"/>
              <a:t>rješava</a:t>
            </a:r>
            <a:r>
              <a:rPr lang="en-GB" b="1" dirty="0"/>
              <a:t>?</a:t>
            </a:r>
          </a:p>
          <a:p>
            <a:pPr lvl="1"/>
            <a:r>
              <a:rPr lang="en-GB" b="1" dirty="0" err="1"/>
              <a:t>Oglasne</a:t>
            </a:r>
            <a:r>
              <a:rPr lang="en-GB" b="1" dirty="0"/>
              <a:t> </a:t>
            </a:r>
            <a:r>
              <a:rPr lang="en-GB" b="1" dirty="0" err="1"/>
              <a:t>ploče</a:t>
            </a:r>
            <a:r>
              <a:rPr lang="en-GB" b="1" dirty="0"/>
              <a:t> </a:t>
            </a:r>
            <a:r>
              <a:rPr lang="en-GB" b="1" dirty="0" err="1"/>
              <a:t>su</a:t>
            </a:r>
            <a:r>
              <a:rPr lang="en-GB" b="1" dirty="0"/>
              <a:t> </a:t>
            </a:r>
            <a:r>
              <a:rPr lang="en-GB" b="1" dirty="0" err="1"/>
              <a:t>prošlost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Informacije</a:t>
            </a:r>
            <a:r>
              <a:rPr lang="en-GB" dirty="0"/>
              <a:t> ne </a:t>
            </a:r>
            <a:r>
              <a:rPr lang="en-GB" dirty="0" err="1"/>
              <a:t>dolaze</a:t>
            </a:r>
            <a:r>
              <a:rPr lang="en-GB" dirty="0"/>
              <a:t> do </a:t>
            </a:r>
            <a:r>
              <a:rPr lang="en-GB" dirty="0" err="1"/>
              <a:t>stanara</a:t>
            </a:r>
            <a:r>
              <a:rPr lang="en-GB" dirty="0"/>
              <a:t> koji </a:t>
            </a:r>
            <a:r>
              <a:rPr lang="en-GB" dirty="0" err="1"/>
              <a:t>nisu</a:t>
            </a:r>
            <a:r>
              <a:rPr lang="en-GB" dirty="0"/>
              <a:t> u </a:t>
            </a:r>
            <a:r>
              <a:rPr lang="en-GB" dirty="0" err="1"/>
              <a:t>zgradi</a:t>
            </a:r>
            <a:r>
              <a:rPr lang="en-GB" dirty="0"/>
              <a:t> (</a:t>
            </a:r>
            <a:r>
              <a:rPr lang="en-GB" dirty="0" err="1"/>
              <a:t>godišnji</a:t>
            </a:r>
            <a:r>
              <a:rPr lang="en-GB" dirty="0"/>
              <a:t>, </a:t>
            </a:r>
            <a:r>
              <a:rPr lang="en-GB" dirty="0" err="1"/>
              <a:t>putovanja</a:t>
            </a:r>
            <a:r>
              <a:rPr lang="en-GB" dirty="0"/>
              <a:t>) </a:t>
            </a:r>
            <a:r>
              <a:rPr lang="en-GB" dirty="0" err="1"/>
              <a:t>ili</a:t>
            </a:r>
            <a:r>
              <a:rPr lang="en-GB" dirty="0"/>
              <a:t> </a:t>
            </a:r>
            <a:r>
              <a:rPr lang="en-GB" dirty="0" err="1"/>
              <a:t>ih</a:t>
            </a:r>
            <a:r>
              <a:rPr lang="en-GB" dirty="0"/>
              <a:t> </a:t>
            </a:r>
            <a:r>
              <a:rPr lang="en-GB" dirty="0" err="1"/>
              <a:t>jednostavno</a:t>
            </a:r>
            <a:r>
              <a:rPr lang="en-GB" dirty="0"/>
              <a:t> ne vide.</a:t>
            </a:r>
          </a:p>
          <a:p>
            <a:pPr lvl="1"/>
            <a:r>
              <a:rPr lang="en-GB" b="1" dirty="0"/>
              <a:t>Chat </a:t>
            </a:r>
            <a:r>
              <a:rPr lang="en-GB" b="1" dirty="0" err="1"/>
              <a:t>grupe</a:t>
            </a:r>
            <a:r>
              <a:rPr lang="en-GB" b="1" dirty="0"/>
              <a:t> </a:t>
            </a:r>
            <a:r>
              <a:rPr lang="en-GB" b="1" dirty="0" err="1"/>
              <a:t>su</a:t>
            </a:r>
            <a:r>
              <a:rPr lang="en-GB" b="1" dirty="0"/>
              <a:t> </a:t>
            </a:r>
            <a:r>
              <a:rPr lang="en-GB" b="1" dirty="0" err="1"/>
              <a:t>kaotične</a:t>
            </a:r>
            <a:r>
              <a:rPr lang="en-GB" b="1" dirty="0"/>
              <a:t>:</a:t>
            </a:r>
            <a:r>
              <a:rPr lang="en-GB" dirty="0"/>
              <a:t> Na </a:t>
            </a:r>
            <a:r>
              <a:rPr lang="en-GB" dirty="0" err="1"/>
              <a:t>WhatsAppu</a:t>
            </a:r>
            <a:r>
              <a:rPr lang="en-GB" dirty="0"/>
              <a:t> se </a:t>
            </a:r>
            <a:r>
              <a:rPr lang="en-GB" dirty="0" err="1"/>
              <a:t>važne</a:t>
            </a:r>
            <a:r>
              <a:rPr lang="en-GB" dirty="0"/>
              <a:t> </a:t>
            </a:r>
            <a:r>
              <a:rPr lang="en-GB" dirty="0" err="1"/>
              <a:t>odluke</a:t>
            </a:r>
            <a:r>
              <a:rPr lang="en-GB" dirty="0"/>
              <a:t> </a:t>
            </a:r>
            <a:r>
              <a:rPr lang="en-GB" dirty="0" err="1"/>
              <a:t>izgube</a:t>
            </a:r>
            <a:r>
              <a:rPr lang="en-GB" dirty="0"/>
              <a:t> u </a:t>
            </a:r>
            <a:r>
              <a:rPr lang="en-GB" dirty="0" err="1"/>
              <a:t>moru</a:t>
            </a:r>
            <a:r>
              <a:rPr lang="en-GB" dirty="0"/>
              <a:t> </a:t>
            </a:r>
            <a:r>
              <a:rPr lang="en-GB" dirty="0" err="1"/>
              <a:t>poruka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nepreglednim</a:t>
            </a:r>
            <a:r>
              <a:rPr lang="en-GB" dirty="0"/>
              <a:t> </a:t>
            </a:r>
            <a:r>
              <a:rPr lang="en-GB" dirty="0" err="1"/>
              <a:t>raspravama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Manjak</a:t>
            </a:r>
            <a:r>
              <a:rPr lang="en-GB" b="1" dirty="0"/>
              <a:t> </a:t>
            </a:r>
            <a:r>
              <a:rPr lang="en-GB" b="1" dirty="0" err="1"/>
              <a:t>koordinacije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Teško</a:t>
            </a:r>
            <a:r>
              <a:rPr lang="en-GB" dirty="0"/>
              <a:t> je </a:t>
            </a:r>
            <a:r>
              <a:rPr lang="en-GB" dirty="0" err="1"/>
              <a:t>okupiti</a:t>
            </a:r>
            <a:r>
              <a:rPr lang="en-GB" dirty="0"/>
              <a:t> </a:t>
            </a:r>
            <a:r>
              <a:rPr lang="en-GB" dirty="0" err="1"/>
              <a:t>veliki</a:t>
            </a:r>
            <a:r>
              <a:rPr lang="en-GB" dirty="0"/>
              <a:t> </a:t>
            </a:r>
            <a:r>
              <a:rPr lang="en-GB" dirty="0" err="1"/>
              <a:t>broj</a:t>
            </a:r>
            <a:r>
              <a:rPr lang="en-GB" dirty="0"/>
              <a:t> </a:t>
            </a:r>
            <a:r>
              <a:rPr lang="en-GB" dirty="0" err="1"/>
              <a:t>suvlasnika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znati</a:t>
            </a:r>
            <a:r>
              <a:rPr lang="en-GB" dirty="0"/>
              <a:t> </a:t>
            </a:r>
            <a:r>
              <a:rPr lang="en-GB" dirty="0" err="1"/>
              <a:t>tko</a:t>
            </a:r>
            <a:r>
              <a:rPr lang="en-GB" dirty="0"/>
              <a:t> je za </a:t>
            </a:r>
            <a:r>
              <a:rPr lang="en-GB" dirty="0" err="1"/>
              <a:t>što</a:t>
            </a:r>
            <a:r>
              <a:rPr lang="en-GB" dirty="0"/>
              <a:t> </a:t>
            </a:r>
            <a:r>
              <a:rPr lang="en-GB" dirty="0" err="1"/>
              <a:t>glasao</a:t>
            </a:r>
            <a:r>
              <a:rPr lang="en-GB" dirty="0"/>
              <a:t>.</a:t>
            </a:r>
          </a:p>
          <a:p>
            <a:r>
              <a:rPr lang="en-GB" b="1" dirty="0" err="1"/>
              <a:t>Cilj</a:t>
            </a:r>
            <a:r>
              <a:rPr lang="en-GB" b="1" dirty="0"/>
              <a:t> </a:t>
            </a:r>
            <a:r>
              <a:rPr lang="en-GB" b="1" dirty="0" err="1"/>
              <a:t>aplikacije</a:t>
            </a:r>
            <a:endParaRPr lang="en-GB" b="1" dirty="0"/>
          </a:p>
          <a:p>
            <a:pPr lvl="1"/>
            <a:r>
              <a:rPr lang="en-GB" b="1" dirty="0" err="1"/>
              <a:t>Idealni</a:t>
            </a:r>
            <a:r>
              <a:rPr lang="en-GB" b="1" dirty="0"/>
              <a:t> </a:t>
            </a:r>
            <a:r>
              <a:rPr lang="en-GB" b="1" dirty="0" err="1"/>
              <a:t>posrednik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Osigurati</a:t>
            </a:r>
            <a:r>
              <a:rPr lang="en-GB" dirty="0"/>
              <a:t> da </a:t>
            </a:r>
            <a:r>
              <a:rPr lang="en-GB" dirty="0" err="1"/>
              <a:t>bitna</a:t>
            </a:r>
            <a:r>
              <a:rPr lang="en-GB" dirty="0"/>
              <a:t> </a:t>
            </a:r>
            <a:r>
              <a:rPr lang="en-GB" dirty="0" err="1"/>
              <a:t>obavijest</a:t>
            </a:r>
            <a:r>
              <a:rPr lang="en-GB" dirty="0"/>
              <a:t> </a:t>
            </a:r>
            <a:r>
              <a:rPr lang="en-GB" dirty="0" err="1"/>
              <a:t>sigurno</a:t>
            </a:r>
            <a:r>
              <a:rPr lang="en-GB" dirty="0"/>
              <a:t> </a:t>
            </a:r>
            <a:r>
              <a:rPr lang="en-GB" dirty="0" err="1"/>
              <a:t>dođe</a:t>
            </a:r>
            <a:r>
              <a:rPr lang="en-GB" dirty="0"/>
              <a:t> do </a:t>
            </a:r>
            <a:r>
              <a:rPr lang="en-GB" dirty="0" err="1"/>
              <a:t>svakog</a:t>
            </a:r>
            <a:r>
              <a:rPr lang="en-GB" dirty="0"/>
              <a:t> </a:t>
            </a:r>
            <a:r>
              <a:rPr lang="en-GB" dirty="0" err="1"/>
              <a:t>stanara</a:t>
            </a:r>
            <a:r>
              <a:rPr lang="en-GB" dirty="0"/>
              <a:t>, bez </a:t>
            </a:r>
            <a:r>
              <a:rPr lang="en-GB" dirty="0" err="1"/>
              <a:t>nesporazuma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Red </a:t>
            </a:r>
            <a:r>
              <a:rPr lang="en-GB" b="1" dirty="0" err="1"/>
              <a:t>i</a:t>
            </a:r>
            <a:r>
              <a:rPr lang="en-GB" b="1" dirty="0"/>
              <a:t> </a:t>
            </a:r>
            <a:r>
              <a:rPr lang="en-GB" b="1" dirty="0" err="1"/>
              <a:t>struktura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Olakšati</a:t>
            </a:r>
            <a:r>
              <a:rPr lang="en-GB" dirty="0"/>
              <a:t> </a:t>
            </a:r>
            <a:r>
              <a:rPr lang="en-GB" dirty="0" err="1"/>
              <a:t>predstavniku</a:t>
            </a:r>
            <a:r>
              <a:rPr lang="en-GB" dirty="0"/>
              <a:t> </a:t>
            </a:r>
            <a:r>
              <a:rPr lang="en-GB" dirty="0" err="1"/>
              <a:t>sazivanje</a:t>
            </a:r>
            <a:r>
              <a:rPr lang="en-GB" dirty="0"/>
              <a:t> </a:t>
            </a:r>
            <a:r>
              <a:rPr lang="en-GB" dirty="0" err="1"/>
              <a:t>sastanaka</a:t>
            </a:r>
            <a:r>
              <a:rPr lang="en-GB" dirty="0"/>
              <a:t>, </a:t>
            </a:r>
            <a:r>
              <a:rPr lang="en-GB" dirty="0" err="1"/>
              <a:t>definiranje</a:t>
            </a:r>
            <a:r>
              <a:rPr lang="en-GB" dirty="0"/>
              <a:t> </a:t>
            </a:r>
            <a:r>
              <a:rPr lang="en-GB" dirty="0" err="1"/>
              <a:t>dnevnog</a:t>
            </a:r>
            <a:r>
              <a:rPr lang="en-GB" dirty="0"/>
              <a:t> </a:t>
            </a:r>
            <a:r>
              <a:rPr lang="en-GB" dirty="0" err="1"/>
              <a:t>reda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bilježenje</a:t>
            </a:r>
            <a:r>
              <a:rPr lang="en-GB" dirty="0"/>
              <a:t> </a:t>
            </a:r>
            <a:r>
              <a:rPr lang="en-GB" dirty="0" err="1"/>
              <a:t>zaključaka</a:t>
            </a:r>
            <a:r>
              <a:rPr lang="en-GB" dirty="0"/>
              <a:t> (s </a:t>
            </a:r>
            <a:r>
              <a:rPr lang="en-GB" dirty="0" err="1"/>
              <a:t>pravnim</a:t>
            </a:r>
            <a:r>
              <a:rPr lang="en-GB" dirty="0"/>
              <a:t> </a:t>
            </a:r>
            <a:r>
              <a:rPr lang="en-GB" dirty="0" err="1"/>
              <a:t>učinkom</a:t>
            </a:r>
            <a:r>
              <a:rPr lang="en-GB" dirty="0"/>
              <a:t> </a:t>
            </a:r>
            <a:r>
              <a:rPr lang="en-GB" dirty="0" err="1"/>
              <a:t>ili</a:t>
            </a:r>
            <a:r>
              <a:rPr lang="en-GB" dirty="0"/>
              <a:t> bez).</a:t>
            </a:r>
          </a:p>
          <a:p>
            <a:pPr lvl="1"/>
            <a:r>
              <a:rPr lang="en-GB" b="1" dirty="0" err="1"/>
              <a:t>Povezivanje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Integracija</a:t>
            </a:r>
            <a:r>
              <a:rPr lang="en-GB" dirty="0"/>
              <a:t> s </a:t>
            </a:r>
            <a:r>
              <a:rPr lang="en-GB" dirty="0" err="1"/>
              <a:t>diskusijama</a:t>
            </a:r>
            <a:r>
              <a:rPr lang="en-GB" dirty="0"/>
              <a:t> (</a:t>
            </a:r>
            <a:r>
              <a:rPr lang="en-GB" dirty="0" err="1"/>
              <a:t>StanBlog</a:t>
            </a:r>
            <a:r>
              <a:rPr lang="en-GB" dirty="0"/>
              <a:t>) – </a:t>
            </a:r>
            <a:r>
              <a:rPr lang="en-GB" dirty="0" err="1"/>
              <a:t>pretvaranje</a:t>
            </a:r>
            <a:r>
              <a:rPr lang="en-GB" dirty="0"/>
              <a:t> </a:t>
            </a:r>
            <a:r>
              <a:rPr lang="en-GB" dirty="0" err="1"/>
              <a:t>neformalnih</a:t>
            </a:r>
            <a:r>
              <a:rPr lang="en-GB" dirty="0"/>
              <a:t> </a:t>
            </a:r>
            <a:r>
              <a:rPr lang="en-GB" dirty="0" err="1"/>
              <a:t>prijedloga</a:t>
            </a:r>
            <a:r>
              <a:rPr lang="en-GB" dirty="0"/>
              <a:t> u </a:t>
            </a:r>
            <a:r>
              <a:rPr lang="en-GB" dirty="0" err="1"/>
              <a:t>stvarne</a:t>
            </a:r>
            <a:r>
              <a:rPr lang="en-GB" dirty="0"/>
              <a:t> </a:t>
            </a:r>
            <a:r>
              <a:rPr lang="en-GB" dirty="0" err="1"/>
              <a:t>točke</a:t>
            </a:r>
            <a:r>
              <a:rPr lang="en-GB" dirty="0"/>
              <a:t> o </a:t>
            </a:r>
            <a:r>
              <a:rPr lang="en-GB" dirty="0" err="1"/>
              <a:t>kojima</a:t>
            </a:r>
            <a:r>
              <a:rPr lang="en-GB" dirty="0"/>
              <a:t> se </a:t>
            </a:r>
            <a:r>
              <a:rPr lang="en-GB" dirty="0" err="1"/>
              <a:t>odlučuje</a:t>
            </a:r>
            <a:r>
              <a:rPr lang="en-GB" dirty="0"/>
              <a:t>.</a:t>
            </a:r>
          </a:p>
          <a:p>
            <a:r>
              <a:rPr lang="en-GB" b="1" dirty="0" err="1"/>
              <a:t>Postojeća</a:t>
            </a:r>
            <a:r>
              <a:rPr lang="en-GB" b="1" dirty="0"/>
              <a:t> </a:t>
            </a:r>
            <a:r>
              <a:rPr lang="en-GB" b="1" dirty="0" err="1"/>
              <a:t>rješenja</a:t>
            </a:r>
            <a:r>
              <a:rPr lang="en-GB" b="1" dirty="0"/>
              <a:t>:</a:t>
            </a:r>
            <a:r>
              <a:rPr lang="en-GB" dirty="0"/>
              <a:t> Ili </a:t>
            </a:r>
            <a:r>
              <a:rPr lang="en-GB" dirty="0" err="1"/>
              <a:t>su</a:t>
            </a:r>
            <a:r>
              <a:rPr lang="en-GB" dirty="0"/>
              <a:t> </a:t>
            </a:r>
            <a:r>
              <a:rPr lang="en-GB" dirty="0" err="1"/>
              <a:t>prekomplicirana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namijenjena</a:t>
            </a:r>
            <a:r>
              <a:rPr lang="en-GB" dirty="0"/>
              <a:t> </a:t>
            </a:r>
            <a:r>
              <a:rPr lang="en-GB" dirty="0" err="1"/>
              <a:t>upraviteljima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računovođama</a:t>
            </a:r>
            <a:r>
              <a:rPr lang="en-GB" dirty="0"/>
              <a:t> (</a:t>
            </a:r>
            <a:r>
              <a:rPr lang="en-GB" i="1" dirty="0" err="1"/>
              <a:t>MojaZgrada.NET</a:t>
            </a:r>
            <a:r>
              <a:rPr lang="en-GB" dirty="0"/>
              <a:t>), </a:t>
            </a:r>
            <a:r>
              <a:rPr lang="en-GB" dirty="0" err="1"/>
              <a:t>ili</a:t>
            </a:r>
            <a:r>
              <a:rPr lang="en-GB" dirty="0"/>
              <a:t> </a:t>
            </a:r>
            <a:r>
              <a:rPr lang="en-GB" dirty="0" err="1"/>
              <a:t>su</a:t>
            </a:r>
            <a:r>
              <a:rPr lang="en-GB" dirty="0"/>
              <a:t> za </a:t>
            </a:r>
            <a:r>
              <a:rPr lang="en-GB" dirty="0" err="1"/>
              <a:t>cimere</a:t>
            </a:r>
            <a:r>
              <a:rPr lang="en-GB" dirty="0"/>
              <a:t>/</a:t>
            </a:r>
            <a:r>
              <a:rPr lang="en-GB" dirty="0" err="1"/>
              <a:t>najam</a:t>
            </a:r>
            <a:r>
              <a:rPr lang="en-GB" dirty="0"/>
              <a:t> (</a:t>
            </a:r>
            <a:r>
              <a:rPr lang="en-GB" i="1" dirty="0" err="1"/>
              <a:t>Flatie</a:t>
            </a:r>
            <a:r>
              <a:rPr lang="en-GB" dirty="0"/>
              <a:t>).</a:t>
            </a:r>
          </a:p>
          <a:p>
            <a:r>
              <a:rPr lang="en-GB" b="1" dirty="0" err="1"/>
              <a:t>Naša</a:t>
            </a:r>
            <a:r>
              <a:rPr lang="en-GB" b="1" dirty="0"/>
              <a:t> </a:t>
            </a:r>
            <a:r>
              <a:rPr lang="en-GB" b="1" dirty="0" err="1"/>
              <a:t>prednost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Jednostavnost</a:t>
            </a:r>
            <a:r>
              <a:rPr lang="en-GB" dirty="0"/>
              <a:t>. </a:t>
            </a:r>
            <a:r>
              <a:rPr lang="en-GB" dirty="0" err="1"/>
              <a:t>Fokusiramo</a:t>
            </a:r>
            <a:r>
              <a:rPr lang="en-GB" dirty="0"/>
              <a:t> se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i="1" dirty="0" err="1"/>
              <a:t>zajednicu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i="1" dirty="0" err="1"/>
              <a:t>dogovor</a:t>
            </a:r>
            <a:r>
              <a:rPr lang="en-GB" dirty="0"/>
              <a:t> </a:t>
            </a:r>
            <a:r>
              <a:rPr lang="en-GB" dirty="0" err="1"/>
              <a:t>stanara</a:t>
            </a:r>
            <a:r>
              <a:rPr lang="en-GB" dirty="0"/>
              <a:t>, a ne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komplicirano</a:t>
            </a:r>
            <a:r>
              <a:rPr lang="en-GB" dirty="0"/>
              <a:t> </a:t>
            </a:r>
            <a:r>
              <a:rPr lang="en-GB" dirty="0" err="1"/>
              <a:t>vođenje</a:t>
            </a:r>
            <a:r>
              <a:rPr lang="en-GB" dirty="0"/>
              <a:t> </a:t>
            </a:r>
            <a:r>
              <a:rPr lang="en-GB" dirty="0" err="1"/>
              <a:t>financija</a:t>
            </a:r>
            <a:r>
              <a:rPr lang="en-GB" dirty="0"/>
              <a:t>. </a:t>
            </a:r>
            <a:r>
              <a:rPr lang="en-GB" dirty="0" err="1"/>
              <a:t>Aplikacija</a:t>
            </a:r>
            <a:r>
              <a:rPr lang="en-GB" dirty="0"/>
              <a:t> je </a:t>
            </a:r>
            <a:r>
              <a:rPr lang="en-GB" dirty="0" err="1"/>
              <a:t>prilagođena</a:t>
            </a:r>
            <a:r>
              <a:rPr lang="en-GB" dirty="0"/>
              <a:t> </a:t>
            </a:r>
            <a:r>
              <a:rPr lang="en-GB" dirty="0" err="1"/>
              <a:t>običnom</a:t>
            </a:r>
            <a:r>
              <a:rPr lang="en-GB" dirty="0"/>
              <a:t> </a:t>
            </a:r>
            <a:r>
              <a:rPr lang="en-GB" dirty="0" err="1"/>
              <a:t>korisniku</a:t>
            </a:r>
            <a:r>
              <a:rPr lang="en-GB" dirty="0"/>
              <a:t>, a ne </a:t>
            </a:r>
            <a:r>
              <a:rPr lang="en-GB" dirty="0" err="1"/>
              <a:t>profesionalcu</a:t>
            </a:r>
            <a:r>
              <a:rPr lang="en-GB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24A85-3B76-EBCB-772E-CD8CF3165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9260" y="6501038"/>
            <a:ext cx="475056" cy="288000"/>
          </a:xfrm>
        </p:spPr>
        <p:txBody>
          <a:bodyPr/>
          <a:lstStyle/>
          <a:p>
            <a:fld id="{FAA41844-C0CA-4144-9D6C-D993F0C0FAB4}" type="slidenum">
              <a:rPr lang="hr-HR" smtClean="0"/>
              <a:pPr/>
              <a:t>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39409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80686D-6BF4-FD02-E2E8-F94FD8C8F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26B4480E-B7FF-4481-890E-043A69AE6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9394E1F-0B5F-497D-B2A6-8383A2A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28551" y="457200"/>
            <a:ext cx="2777491" cy="5935133"/>
            <a:chOff x="438068" y="457200"/>
            <a:chExt cx="3703320" cy="5935133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1FF39A-AC3C-4066-9D4C-519AA2281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01201"/>
              <a:ext cx="3702134" cy="5791132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H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4C13BAB-7C00-4D21-A857-E3D41C0A2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HR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3CD24B-63D7-BBF6-DF87-A4F677858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24001"/>
            <a:ext cx="2559050" cy="347838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/>
            <a:r>
              <a:rPr lang="en-US" sz="2500" noProof="0">
                <a:solidFill>
                  <a:srgbClr val="FFFFFF"/>
                </a:solidFill>
              </a:rPr>
              <a:t>FUNKCIONALNI ZAHTJEVI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E9460-7D76-B428-2AAF-AE0809C0D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90799" y="766070"/>
            <a:ext cx="40700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 sz="900">
              <a:solidFill>
                <a:srgbClr val="FFFFFF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C8BE04F-6A67-55FF-8947-02112BF40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506649"/>
              </p:ext>
            </p:extLst>
          </p:nvPr>
        </p:nvGraphicFramePr>
        <p:xfrm>
          <a:off x="3332101" y="453643"/>
          <a:ext cx="5476998" cy="593868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96960">
                  <a:extLst>
                    <a:ext uri="{9D8B030D-6E8A-4147-A177-3AD203B41FA5}">
                      <a16:colId xmlns:a16="http://schemas.microsoft.com/office/drawing/2014/main" val="3171723024"/>
                    </a:ext>
                  </a:extLst>
                </a:gridCol>
                <a:gridCol w="4680038">
                  <a:extLst>
                    <a:ext uri="{9D8B030D-6E8A-4147-A177-3AD203B41FA5}">
                      <a16:colId xmlns:a16="http://schemas.microsoft.com/office/drawing/2014/main" val="1097065912"/>
                    </a:ext>
                  </a:extLst>
                </a:gridCol>
              </a:tblGrid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ID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Opis funkcionalnosti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0918347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Kreiranje računa predstavnika i suvlasnika (Admin)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95304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Promjena inicijalne lozinke pri prvoj prijavi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414435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F-003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Prijava putem vanjskog servisa (OAuth 2.0)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60747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F-004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Kreiranje novog sastanka (stanje "Planiran")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5016318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F-005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Upravljanje točkama dnevnog reda (oznaka pravnog učinka)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174322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F-006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Objava sastanka na oglasnoj ploči aplikacije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6135046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F-007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Slanje e-mail obavijesti (kod objave i arhiviranja)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7645057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F-008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Pregled detalja objavljenih sastanaka (Suvlasnici)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9351184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F-009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Potvrda</a:t>
                      </a: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sudjelovanja</a:t>
                      </a: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na</a:t>
                      </a: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sastanku</a:t>
                      </a: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(RSVP)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0978339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F-010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Evidencija završetka sastanka (stanje "Obavljen")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1735566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Unos zaključaka i rezultata glasanja (Izglasan/Odbijen)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1548425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Arhiviranje sastanka (uz validaciju obaveznih zaključaka)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388545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F-013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Povezivanje točke dnevnog reda s diskusijom (StanBlog)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4835824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F-014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Kreiranje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sastanka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putem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API-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ja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inicira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StanBlog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7084930"/>
                  </a:ext>
                </a:extLst>
              </a:tr>
              <a:tr h="3711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F-015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99413" marR="99413" marT="55772" marB="55772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Konfiguracija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adrese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vanjskog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poslužitelja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StanBlog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99413" marR="99413" marT="55772" marB="55772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0052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4633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902300-2E6F-2A61-55D7-5B3FFDC2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 useBgFill="1">
        <p:nvSpPr>
          <p:cNvPr id="69" name="Rectangle 68">
            <a:extLst>
              <a:ext uri="{FF2B5EF4-FFF2-40B4-BE49-F238E27FC236}">
                <a16:creationId xmlns:a16="http://schemas.microsoft.com/office/drawing/2014/main" id="{26B4480E-B7FF-4481-890E-043A69AE6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9394E1F-0B5F-497D-B2A6-8383A2A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28551" y="457200"/>
            <a:ext cx="2777491" cy="5935133"/>
            <a:chOff x="438068" y="457200"/>
            <a:chExt cx="3703320" cy="593513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F1FF39A-AC3C-4066-9D4C-519AA2281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01201"/>
              <a:ext cx="3702134" cy="5791132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H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64C13BAB-7C00-4D21-A857-E3D41C0A2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HR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18C6143-FC0A-369C-C04B-E1C5BDC6A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24001"/>
            <a:ext cx="2559050" cy="347838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/>
            <a:r>
              <a:rPr lang="en-US" sz="2300" noProof="0">
                <a:solidFill>
                  <a:srgbClr val="FFFFFF"/>
                </a:solidFill>
              </a:rPr>
              <a:t>NEFUNKCIONALNI ZAHTJEVI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2FC34-6A06-3153-62BC-CD0CB65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90799" y="766070"/>
            <a:ext cx="40700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 sz="900">
              <a:solidFill>
                <a:srgbClr val="FFFFFF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EE76FA6-7E57-7F26-A361-894B93899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27808"/>
              </p:ext>
            </p:extLst>
          </p:nvPr>
        </p:nvGraphicFramePr>
        <p:xfrm>
          <a:off x="3433703" y="1005841"/>
          <a:ext cx="5375396" cy="475019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21593">
                  <a:extLst>
                    <a:ext uri="{9D8B030D-6E8A-4147-A177-3AD203B41FA5}">
                      <a16:colId xmlns:a16="http://schemas.microsoft.com/office/drawing/2014/main" val="2863126369"/>
                    </a:ext>
                  </a:extLst>
                </a:gridCol>
                <a:gridCol w="4553803">
                  <a:extLst>
                    <a:ext uri="{9D8B030D-6E8A-4147-A177-3AD203B41FA5}">
                      <a16:colId xmlns:a16="http://schemas.microsoft.com/office/drawing/2014/main" val="2000889045"/>
                    </a:ext>
                  </a:extLst>
                </a:gridCol>
              </a:tblGrid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ID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Opis zahtjeva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2857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5645828"/>
                  </a:ext>
                </a:extLst>
              </a:tr>
              <a:tr h="525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NF-1.1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Sustav mora raditi pouzdano i bez prekida tijekom korištenja.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069433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NF-1.2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Učitavanje osnovnih stranica mora biti kraće od 3 sekunde.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731066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NF-2.1</a:t>
                      </a:r>
                      <a:endParaRPr lang="en-GB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Sigurna prijava putem vanjskog servisa (OAuth 2.0).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938724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NF-2.2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Sva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mrežna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komunikacija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mora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biti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kriptirana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(HTTPS).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0216300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NF-2.3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Sigurna pohrana i zaštita osobnih podataka korisnika.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2533647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NF-2.3.1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Redovita automatska izrada sigurnosnih kopija (Backup).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738296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NF-3.1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Pregledno i intuitivno sučelje za snalaženje.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790593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NF-3.1.1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Dizajn prilagođen korisnicima bez tehničkog predznanja.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5127232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NF-3.2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Potpuna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prilagodba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prikaza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za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mobilne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uređaje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746285"/>
                  </a:ext>
                </a:extLst>
              </a:tr>
              <a:tr h="525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NF-4.1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Arhitektura sustava koja omogućuje jednostavno održavanje.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2946941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NF-4.2.1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Izrada "Priručnika za rad" s uputama za korisnike.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1333530"/>
                  </a:ext>
                </a:extLst>
              </a:tr>
              <a:tr h="33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NF-4.2.2</a:t>
                      </a:r>
                      <a:endParaRPr lang="en-GB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7667" marR="77667" marT="54367" marB="54367" anchor="ctr">
                    <a:lnL w="28575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Izrada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"Plana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implementacije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" za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postavljanje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2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sustava</a:t>
                      </a:r>
                      <a:r>
                        <a:rPr lang="en-GB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7667" marR="77667" marT="54367" marB="54367" anchor="ctr">
                    <a:lnL w="12700" cmpd="sng">
                      <a:noFill/>
                      <a:prstDash val="solid"/>
                    </a:lnL>
                    <a:lnR w="28575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2857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27517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21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98">
            <a:extLst>
              <a:ext uri="{FF2B5EF4-FFF2-40B4-BE49-F238E27FC236}">
                <a16:creationId xmlns:a16="http://schemas.microsoft.com/office/drawing/2014/main" id="{77F8016E-837B-4C70-B44C-E1627C028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9C6062-B8DD-49CC-9F05-D6DF7ABB6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F846FCA-97FF-4271-8B97-C14BD3AA9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2DD2BC0-D31F-4903-8F54-0F60B9E3A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 useBgFill="1">
        <p:nvSpPr>
          <p:cNvPr id="107" name="Rectangle 106">
            <a:extLst>
              <a:ext uri="{FF2B5EF4-FFF2-40B4-BE49-F238E27FC236}">
                <a16:creationId xmlns:a16="http://schemas.microsoft.com/office/drawing/2014/main" id="{7140C5F6-42D5-4D5D-9636-0329EEFBA1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87694A-BAF6-7A98-2018-B1B0FDA7F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388" y="0"/>
            <a:ext cx="2457353" cy="425107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A244493-C654-17BD-A6F7-0CEE5BE475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43722" y="434087"/>
            <a:ext cx="3892538" cy="3453674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209F4084-256C-296C-85FF-71242D786A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611" y="4402452"/>
            <a:ext cx="3328193" cy="2787945"/>
          </a:xfrm>
          <a:prstGeom prst="rect">
            <a:avLst/>
          </a:prstGeom>
        </p:spPr>
      </p:pic>
      <p:sp>
        <p:nvSpPr>
          <p:cNvPr id="109" name="Rectangle 108">
            <a:extLst>
              <a:ext uri="{FF2B5EF4-FFF2-40B4-BE49-F238E27FC236}">
                <a16:creationId xmlns:a16="http://schemas.microsoft.com/office/drawing/2014/main" id="{457E30F7-3253-4621-AB18-6A383D3A3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9623" y="4267831"/>
            <a:ext cx="5664377" cy="2590169"/>
          </a:xfrm>
          <a:prstGeom prst="rect">
            <a:avLst/>
          </a:prstGeom>
          <a:solidFill>
            <a:srgbClr val="465359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B194B-73FA-DAD6-728F-E14212BE2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7381" y="4571122"/>
            <a:ext cx="4943968" cy="103790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>
              <a:lnSpc>
                <a:spcPct val="90000"/>
              </a:lnSpc>
            </a:pPr>
            <a:r>
              <a:rPr lang="en-US" sz="3300" noProof="0">
                <a:solidFill>
                  <a:srgbClr val="FFFFFF"/>
                </a:solidFill>
              </a:rPr>
              <a:t>UML dijagram obrazaca uporabe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305829B-9491-4F93-8853-9BCABA78F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20158"/>
            <a:ext cx="9141714" cy="9144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51F966F2-031A-4EA8-B214-62BED34FFE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3519" y="-460"/>
            <a:ext cx="68580" cy="685800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0CEC8-0F4C-E99E-FC93-F08F526E7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53117" y="6198425"/>
            <a:ext cx="40700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 sz="9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1244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>
            <a:extLst>
              <a:ext uri="{FF2B5EF4-FFF2-40B4-BE49-F238E27FC236}">
                <a16:creationId xmlns:a16="http://schemas.microsoft.com/office/drawing/2014/main" id="{77F8016E-837B-4C70-B44C-E1627C028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B9C6062-B8DD-49CC-9F05-D6DF7ABB6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F846FCA-97FF-4271-8B97-C14BD3AA9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2DD2BC0-D31F-4903-8F54-0F60B9E3A2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4"/>
            <a:ext cx="8474199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 useBgFill="1">
        <p:nvSpPr>
          <p:cNvPr id="81" name="Rectangle 80">
            <a:extLst>
              <a:ext uri="{FF2B5EF4-FFF2-40B4-BE49-F238E27FC236}">
                <a16:creationId xmlns:a16="http://schemas.microsoft.com/office/drawing/2014/main" id="{C946306D-5ADD-463A-949A-DEEBA39D7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083EBF-84CA-A0AD-F024-6DD969876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01" y="5633080"/>
            <a:ext cx="8210715" cy="11559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457200"/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SEKVENCIJSKI DIJAGRAMI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473A035-1F9A-4381-AC96-683CD2DF5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5422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F4ED641-0671-4D88-92E6-026A8C9F1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3255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A02EF2F-E7B1-40FC-885B-C4D89902B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1862173-46FF-A450-B87D-BC49F8D33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744298"/>
            <a:ext cx="3691708" cy="2544175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DF56E9B-64C8-FA19-EBA8-B9BD6827E2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73200" y="3391719"/>
            <a:ext cx="3691708" cy="2726237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0E27FD22-D013-D821-61F5-900234D1DC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96861" y="744298"/>
            <a:ext cx="4411295" cy="243511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9420D-1175-4B73-1EC8-715FDFE0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en-US" sz="900"/>
              <a:pPr>
                <a:spcAft>
                  <a:spcPts val="600"/>
                </a:spcAft>
              </a:pPr>
              <a:t>8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329629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858DF7D-C2D0-4B03-A7A0-2F06B789E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26B711-3121-40B0-8377-A64F3DC00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5C4D3D-ABBA-4B4E-93E5-01E343719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DDD5E5-0097-4C6C-B266-5732EDA96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52EF87-C74F-4D3F-9CAD-EEA1733C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597643"/>
            <a:ext cx="2777490" cy="57929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H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361" y="1037967"/>
            <a:ext cx="2290568" cy="4709131"/>
          </a:xfrm>
        </p:spPr>
        <p:txBody>
          <a:bodyPr anchor="ctr">
            <a:normAutofit/>
          </a:bodyPr>
          <a:lstStyle/>
          <a:p>
            <a:r>
              <a:rPr lang="hr-HR" sz="2600" noProof="0">
                <a:solidFill>
                  <a:srgbClr val="FFFEFF"/>
                </a:solidFill>
              </a:rPr>
              <a:t>Arhitektura sustava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AB101A3-5543-6347-11EB-FEE07B2B361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112390" y="1037967"/>
            <a:ext cx="5832317" cy="535259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Globalna organizacija: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Klasična 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Klijent-Poslužitelj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arhitektura. Sustav je strogo podijeljen na dva dijela koji komuniciraju isključivo putem 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REST API-ja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(JSON).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Klijentska strana (Frontend):</a:t>
            </a:r>
            <a:endParaRPr kumimoji="0" lang="en-HR" altLang="en-HR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220200" lvl="1" indent="0" defTabSz="91440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HR" altLang="en-HR" sz="11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Single Page Application (React):</a:t>
            </a:r>
            <a:r>
              <a:rPr kumimoji="0" lang="en-HR" altLang="en-HR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Moderno sučelje koje se izvršava u pregledniku korisnika. Ne osvježava cijelu stranicu, već dinamički dohvaća samo potrebne podatke.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Poslužiteljska strana (Backend):</a:t>
            </a:r>
            <a:endParaRPr kumimoji="0" lang="en-HR" altLang="en-HR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220200" lvl="1" indent="0" defTabSz="91440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HR" altLang="en-HR" sz="11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Slojeviti monolit (Spring Boot):</a:t>
            </a:r>
            <a:r>
              <a:rPr kumimoji="0" lang="en-HR" altLang="en-HR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Sva poslovna logika, sigurnost i validacije nalaze se na jednom mjestu, podijeljeni u slojeve (</a:t>
            </a:r>
            <a:r>
              <a:rPr kumimoji="0" lang="en-HR" altLang="en-HR" sz="1100" b="0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Controller → Service → Repository</a:t>
            </a:r>
            <a:r>
              <a:rPr kumimoji="0" lang="en-HR" altLang="en-HR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Podaci i okolina:</a:t>
            </a:r>
            <a:endParaRPr kumimoji="0" lang="en-HR" altLang="en-HR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220200" lvl="1" indent="0" defTabSz="91440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kumimoji="0" lang="en-HR" altLang="en-HR" sz="11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Relacijska baza:</a:t>
            </a:r>
            <a:r>
              <a:rPr kumimoji="0" lang="en-HR" altLang="en-HR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Centralno spremište podataka s očuvanim integritetom.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Integracije: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Sustav se povezuje s vanjskim servisima za autentifikaciju (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OAuth 2.0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), slanje obavijesti (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Email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i diskusije (</a:t>
            </a:r>
            <a:r>
              <a:rPr kumimoji="0" lang="en-HR" altLang="en-HR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StanBlog</a:t>
            </a:r>
            <a:r>
              <a:rPr kumimoji="0" lang="en-HR" altLang="en-HR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HR" altLang="en-HR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57354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BF44F-77F4-2EE5-BDD3-76DA969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R" dirty="0"/>
              <a:t>DIJAGRAM KOMPONENTI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AFB9230-1ECB-22AB-5C9C-7BE887E8EE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8" y="1127890"/>
            <a:ext cx="9001125" cy="508799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E65AE-EED9-B9E9-EB90-AB808B4D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90294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B71E4-C6E0-AB23-6C54-921C40529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684" y="2790092"/>
            <a:ext cx="4727119" cy="3034330"/>
          </a:xfrm>
        </p:spPr>
        <p:txBody>
          <a:bodyPr>
            <a:normAutofit/>
          </a:bodyPr>
          <a:lstStyle/>
          <a:p>
            <a:r>
              <a:rPr lang="en-GB" dirty="0"/>
              <a:t>D</a:t>
            </a:r>
            <a:r>
              <a:rPr lang="en-HR" dirty="0"/>
              <a:t>ijagram visoke razine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BAC96-CC6D-9E09-C472-52972DDD3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11</a:t>
            </a:fld>
            <a:endParaRPr lang="hr-HR"/>
          </a:p>
        </p:txBody>
      </p:sp>
      <p:pic>
        <p:nvPicPr>
          <p:cNvPr id="10" name="Picture 9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AAACB6BE-2833-B72F-383A-2B17CB6AA8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43" b="95929" l="1307" r="99106">
                        <a14:foregroundMark x1="9285" y1="93500" x2="81843" y2="93857"/>
                        <a14:foregroundMark x1="81843" y1="93857" x2="89477" y2="91214"/>
                        <a14:foregroundMark x1="89477" y1="91214" x2="70358" y2="29000"/>
                        <a14:foregroundMark x1="70358" y1="29000" x2="70839" y2="11929"/>
                        <a14:foregroundMark x1="70839" y1="11929" x2="73177" y2="8000"/>
                        <a14:foregroundMark x1="62242" y1="3857" x2="74415" y2="5071"/>
                        <a14:foregroundMark x1="74415" y1="5071" x2="82944" y2="16143"/>
                        <a14:foregroundMark x1="82944" y1="16143" x2="87483" y2="82286"/>
                        <a14:foregroundMark x1="87483" y1="82286" x2="85626" y2="92143"/>
                        <a14:foregroundMark x1="85626" y1="92143" x2="78404" y2="94786"/>
                        <a14:foregroundMark x1="78404" y1="94786" x2="36314" y2="89214"/>
                        <a14:foregroundMark x1="36314" y1="89214" x2="13893" y2="89357"/>
                        <a14:foregroundMark x1="13893" y1="89357" x2="6190" y2="84714"/>
                        <a14:foregroundMark x1="6190" y1="84714" x2="3370" y2="92429"/>
                        <a14:foregroundMark x1="3370" y1="92429" x2="10935" y2="82857"/>
                        <a14:foregroundMark x1="10935" y1="82857" x2="16025" y2="90571"/>
                        <a14:foregroundMark x1="16025" y1="90571" x2="24003" y2="83143"/>
                        <a14:foregroundMark x1="24003" y1="83143" x2="31706" y2="90143"/>
                        <a14:foregroundMark x1="31706" y1="90143" x2="41609" y2="84857"/>
                        <a14:foregroundMark x1="41609" y1="84857" x2="57428" y2="93857"/>
                        <a14:foregroundMark x1="57428" y1="93857" x2="70426" y2="85571"/>
                        <a14:foregroundMark x1="70426" y1="85571" x2="77923" y2="88429"/>
                        <a14:foregroundMark x1="1100" y1="82357" x2="8666" y2="82429"/>
                        <a14:foregroundMark x1="8666" y1="82429" x2="32462" y2="80643"/>
                        <a14:foregroundMark x1="32462" y1="80643" x2="53164" y2="82857"/>
                        <a14:foregroundMark x1="53164" y1="82857" x2="60110" y2="69643"/>
                        <a14:foregroundMark x1="60110" y1="69643" x2="58184" y2="10714"/>
                        <a14:foregroundMark x1="58184" y1="10714" x2="68157" y2="5357"/>
                        <a14:foregroundMark x1="68157" y1="5357" x2="85208" y2="5939"/>
                        <a14:foregroundMark x1="94709" y1="16965" x2="95323" y2="18857"/>
                        <a14:foregroundMark x1="95323" y1="18857" x2="88308" y2="40714"/>
                        <a14:foregroundMark x1="88308" y1="40714" x2="87964" y2="67000"/>
                        <a14:foregroundMark x1="87964" y1="67000" x2="94567" y2="96643"/>
                        <a14:foregroundMark x1="94567" y1="96643" x2="84663" y2="97571"/>
                        <a14:foregroundMark x1="84663" y1="97571" x2="57015" y2="94000"/>
                        <a14:foregroundMark x1="57015" y1="94000" x2="10316" y2="95786"/>
                        <a14:foregroundMark x1="10316" y1="95786" x2="2063" y2="89500"/>
                        <a14:foregroundMark x1="2063" y1="89500" x2="1307" y2="83500"/>
                        <a14:foregroundMark x1="1994" y1="6714" x2="69532" y2="10143"/>
                        <a14:foregroundMark x1="69532" y1="10143" x2="76685" y2="12643"/>
                        <a14:foregroundMark x1="76685" y1="12643" x2="7565" y2="17286"/>
                        <a14:foregroundMark x1="7565" y1="17286" x2="29298" y2="24571"/>
                        <a14:foregroundMark x1="29298" y1="24571" x2="69257" y2="24071"/>
                        <a14:foregroundMark x1="69257" y1="24071" x2="85695" y2="28214"/>
                        <a14:foregroundMark x1="85695" y1="28214" x2="80674" y2="34000"/>
                        <a14:foregroundMark x1="80674" y1="34000" x2="53980" y2="40277"/>
                        <a14:foregroundMark x1="1651" y1="2500" x2="51994" y2="3071"/>
                        <a14:foregroundMark x1="51994" y1="3071" x2="71252" y2="929"/>
                        <a14:foregroundMark x1="71252" y1="929" x2="80330" y2="2500"/>
                        <a14:foregroundMark x1="83425" y1="643" x2="83425" y2="17357"/>
                        <a14:foregroundMark x1="83425" y1="17357" x2="81499" y2="4071"/>
                        <a14:foregroundMark x1="81499" y1="4071" x2="80330" y2="13000"/>
                        <a14:foregroundMark x1="80330" y1="13000" x2="76754" y2="4643"/>
                        <a14:foregroundMark x1="76754" y1="4643" x2="79298" y2="15000"/>
                        <a14:foregroundMark x1="79298" y1="15000" x2="79298" y2="6786"/>
                        <a14:foregroundMark x1="79298" y1="6786" x2="84525" y2="12286"/>
                        <a14:foregroundMark x1="84525" y1="12286" x2="84319" y2="2857"/>
                        <a14:foregroundMark x1="84319" y1="2857" x2="84801" y2="11143"/>
                        <a14:foregroundMark x1="84801" y1="11143" x2="85626" y2="2286"/>
                        <a14:foregroundMark x1="85626" y1="2286" x2="87964" y2="40500"/>
                        <a14:foregroundMark x1="87964" y1="40500" x2="83838" y2="21857"/>
                        <a14:foregroundMark x1="83838" y1="21857" x2="90990" y2="18143"/>
                        <a14:foregroundMark x1="90990" y1="18143" x2="94911" y2="26357"/>
                        <a14:foregroundMark x1="94911" y1="26357" x2="95530" y2="87643"/>
                        <a14:foregroundMark x1="95530" y1="87643" x2="91059" y2="97714"/>
                        <a14:foregroundMark x1="91059" y1="97714" x2="10591" y2="96643"/>
                        <a14:foregroundMark x1="10591" y1="96643" x2="1719" y2="98571"/>
                        <a14:foregroundMark x1="1719" y1="98571" x2="10935" y2="96643"/>
                        <a14:foregroundMark x1="10935" y1="96643" x2="29367" y2="86500"/>
                        <a14:foregroundMark x1="29367" y1="86500" x2="46836" y2="94357"/>
                        <a14:foregroundMark x1="46836" y1="94357" x2="74140" y2="85000"/>
                        <a14:foregroundMark x1="74140" y1="85000" x2="83838" y2="95643"/>
                        <a14:foregroundMark x1="83838" y1="95643" x2="92779" y2="93429"/>
                        <a14:foregroundMark x1="98220" y1="95456" x2="99106" y2="95786"/>
                        <a14:foregroundMark x1="92779" y1="93429" x2="98097" y2="95410"/>
                        <a14:foregroundMark x1="344" y1="82500" x2="17194" y2="82929"/>
                        <a14:foregroundMark x1="17194" y1="82929" x2="32806" y2="82143"/>
                        <a14:foregroundMark x1="32806" y1="82143" x2="48831" y2="83071"/>
                        <a14:foregroundMark x1="48831" y1="83071" x2="3645" y2="82500"/>
                        <a14:foregroundMark x1="3645" y1="82500" x2="413" y2="91214"/>
                        <a14:foregroundMark x1="413" y1="91214" x2="2407" y2="99571"/>
                        <a14:foregroundMark x1="2407" y1="99571" x2="10591" y2="99786"/>
                        <a14:foregroundMark x1="10591" y1="99786" x2="92228" y2="95929"/>
                        <a14:foregroundMark x1="92228" y1="95929" x2="95736" y2="88143"/>
                        <a14:foregroundMark x1="95736" y1="88143" x2="85832" y2="87071"/>
                        <a14:foregroundMark x1="85832" y1="87071" x2="79161" y2="81214"/>
                        <a14:foregroundMark x1="79161" y1="81214" x2="76204" y2="68143"/>
                        <a14:foregroundMark x1="76204" y1="68143" x2="79298" y2="52429"/>
                        <a14:foregroundMark x1="79298" y1="52429" x2="75791" y2="44071"/>
                        <a14:foregroundMark x1="75791" y1="44071" x2="83700" y2="33357"/>
                        <a14:foregroundMark x1="83700" y1="33357" x2="81706" y2="43786"/>
                        <a14:foregroundMark x1="81706" y1="43786" x2="74415" y2="41214"/>
                        <a14:foregroundMark x1="74415" y1="41214" x2="77442" y2="34143"/>
                        <a14:foregroundMark x1="77442" y1="34143" x2="78129" y2="40857"/>
                        <a14:foregroundMark x1="60041" y1="500" x2="74209" y2="1357"/>
                        <a14:foregroundMark x1="74209" y1="1357" x2="81499" y2="857"/>
                        <a14:foregroundMark x1="81499" y1="857" x2="84732" y2="857"/>
                        <a14:foregroundMark x1="65612" y1="857" x2="73109" y2="1857"/>
                        <a14:foregroundMark x1="73109" y1="1857" x2="82393" y2="1214"/>
                        <a14:foregroundMark x1="65956" y1="500" x2="73659" y2="1071"/>
                        <a14:foregroundMark x1="73659" y1="1071" x2="80880" y2="929"/>
                        <a14:foregroundMark x1="80880" y1="929" x2="64787" y2="143"/>
                        <a14:backgroundMark x1="85626" y1="1214" x2="85741" y2="1922"/>
                        <a14:backgroundMark x1="87381" y1="11807" x2="94911" y2="16357"/>
                        <a14:backgroundMark x1="94911" y1="16357" x2="97111" y2="7143"/>
                        <a14:backgroundMark x1="97111" y1="7143" x2="92022" y2="929"/>
                        <a14:backgroundMark x1="92022" y1="929" x2="93329" y2="8571"/>
                        <a14:backgroundMark x1="93329" y1="8571" x2="98006" y2="14786"/>
                        <a14:backgroundMark x1="98006" y1="14786" x2="99037" y2="5786"/>
                        <a14:backgroundMark x1="99037" y1="5786" x2="98762" y2="3857"/>
                        <a14:backgroundMark x1="98762" y1="3500" x2="92572" y2="11000"/>
                        <a14:backgroundMark x1="92572" y1="11000" x2="92022" y2="7857"/>
                        <a14:backgroundMark x1="87276" y1="6714" x2="92779" y2="12929"/>
                        <a14:backgroundMark x1="92779" y1="12929" x2="89821" y2="4857"/>
                        <a14:backgroundMark x1="89821" y1="4857" x2="93122" y2="12071"/>
                        <a14:backgroundMark x1="93122" y1="12071" x2="87827" y2="6429"/>
                        <a14:backgroundMark x1="87827" y1="6429" x2="91472" y2="7071"/>
                        <a14:backgroundMark x1="10867" y1="50071" x2="15612" y2="60071"/>
                        <a14:backgroundMark x1="15612" y1="60071" x2="9560" y2="37214"/>
                        <a14:backgroundMark x1="9560" y1="37214" x2="22834" y2="59143"/>
                        <a14:backgroundMark x1="22834" y1="59143" x2="17882" y2="50071"/>
                        <a14:backgroundMark x1="17882" y1="50071" x2="17538" y2="57786"/>
                        <a14:backgroundMark x1="17538" y1="57786" x2="16094" y2="48786"/>
                        <a14:backgroundMark x1="16094" y1="48786" x2="27923" y2="49429"/>
                        <a14:backgroundMark x1="27923" y1="49429" x2="34869" y2="48357"/>
                        <a14:backgroundMark x1="34869" y1="48357" x2="20770" y2="47857"/>
                        <a14:backgroundMark x1="20770" y1="47857" x2="53508" y2="41143"/>
                        <a14:backgroundMark x1="53508" y1="41143" x2="44223" y2="42214"/>
                        <a14:backgroundMark x1="44223" y1="42214" x2="22558" y2="48714"/>
                        <a14:backgroundMark x1="22558" y1="48714" x2="13961" y2="49714"/>
                        <a14:backgroundMark x1="13961" y1="49714" x2="15818" y2="57857"/>
                        <a14:backgroundMark x1="15818" y1="57857" x2="13618" y2="50357"/>
                        <a14:backgroundMark x1="13618" y1="50357" x2="13205" y2="50214"/>
                        <a14:backgroundMark x1="12173" y1="50071" x2="15818" y2="57143"/>
                        <a14:backgroundMark x1="15818" y1="57143" x2="20220" y2="58286"/>
                        <a14:backgroundMark x1="92503" y1="13286" x2="93329" y2="13286"/>
                        <a14:backgroundMark x1="92779" y1="12357" x2="93810" y2="13429"/>
                        <a14:backgroundMark x1="93329" y1="14286" x2="93329" y2="13929"/>
                        <a14:backgroundMark x1="94154" y1="16929" x2="93466" y2="14500"/>
                        <a14:backgroundMark x1="92779" y1="13786" x2="93329" y2="14500"/>
                        <a14:backgroundMark x1="94292" y1="17071" x2="94292" y2="17071"/>
                        <a14:backgroundMark x1="94292" y1="17071" x2="94292" y2="17071"/>
                        <a14:backgroundMark x1="94292" y1="17071" x2="94292" y2="17071"/>
                        <a14:backgroundMark x1="94292" y1="17071" x2="94292" y2="17071"/>
                        <a14:backgroundMark x1="94292" y1="17286" x2="94292" y2="17286"/>
                        <a14:backgroundMark x1="94292" y1="17286" x2="94292" y2="17286"/>
                        <a14:backgroundMark x1="94292" y1="17286" x2="94292" y2="17286"/>
                        <a14:backgroundMark x1="94292" y1="17286" x2="94154" y2="16929"/>
                        <a14:backgroundMark x1="93673" y1="17071" x2="94635" y2="16714"/>
                        <a14:backgroundMark x1="94154" y1="17286" x2="94292" y2="16929"/>
                        <a14:backgroundMark x1="98212" y1="96500" x2="96836" y2="94714"/>
                        <a14:backgroundMark x1="98212" y1="95786" x2="98212" y2="954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037" y="0"/>
            <a:ext cx="6979279" cy="672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022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43278-3D25-FEF7-4D6D-B4CA3FBE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Ispitivanje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03D6B-82AC-E000-ED08-E246EC190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Organizacija ispitivanja</a:t>
            </a:r>
          </a:p>
          <a:p>
            <a:r>
              <a:rPr lang="hr-HR" noProof="0" dirty="0"/>
              <a:t>Fokus ispitivanja. Potpunost ispitivanja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2A5A4-7F29-94F6-4C85-99B20512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12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21737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702156"/>
            <a:ext cx="8272212" cy="1188720"/>
          </a:xfrm>
        </p:spPr>
        <p:txBody>
          <a:bodyPr>
            <a:normAutofit/>
          </a:bodyPr>
          <a:lstStyle/>
          <a:p>
            <a:r>
              <a:rPr lang="hr-HR" noProof="0" dirty="0"/>
              <a:t>Korišteni alati i tehnologije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918725" y="6423914"/>
            <a:ext cx="78938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AA41844-C0CA-4144-9D6C-D993F0C0FAB4}" type="slidenum">
              <a:rPr lang="hr-HR" smtClean="0"/>
              <a:pPr>
                <a:spcAft>
                  <a:spcPts val="600"/>
                </a:spcAft>
              </a:pPr>
              <a:t>13</a:t>
            </a:fld>
            <a:endParaRPr lang="hr-HR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9906754-1D22-D10E-E3FD-CE657B8CC70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0921087"/>
              </p:ext>
            </p:extLst>
          </p:nvPr>
        </p:nvGraphicFramePr>
        <p:xfrm>
          <a:off x="217947" y="1890876"/>
          <a:ext cx="8708106" cy="43809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97724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Organizacija rada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r-HR" noProof="0" dirty="0"/>
              <a:t>Neprogramski (organizacijski) zadaci</a:t>
            </a:r>
          </a:p>
          <a:p>
            <a:pPr lvl="1"/>
            <a:r>
              <a:rPr lang="hr-HR" noProof="0" dirty="0"/>
              <a:t>Organizacija komunikacije (korištene platforme/SW ....)</a:t>
            </a:r>
          </a:p>
          <a:p>
            <a:pPr lvl="1"/>
            <a:r>
              <a:rPr lang="hr-HR" noProof="0" dirty="0"/>
              <a:t>GitHub iskustvo</a:t>
            </a:r>
          </a:p>
          <a:p>
            <a:pPr lvl="1"/>
            <a:endParaRPr lang="hr-HR" noProof="0" dirty="0"/>
          </a:p>
          <a:p>
            <a:pPr lvl="1"/>
            <a:r>
              <a:rPr lang="hr-HR" noProof="0" dirty="0"/>
              <a:t>Primijenjeni model životnog ciklusa</a:t>
            </a:r>
          </a:p>
          <a:p>
            <a:pPr lvl="1"/>
            <a:r>
              <a:rPr lang="hr-HR" noProof="0" dirty="0"/>
              <a:t>ad-hoc, vodopadni,….</a:t>
            </a:r>
          </a:p>
          <a:p>
            <a:r>
              <a:rPr lang="hr-HR" noProof="0" dirty="0"/>
              <a:t>Tablica raščlambe zadataka članova s procijenjenim naporom u satima (jedan slajd)</a:t>
            </a:r>
          </a:p>
          <a:p>
            <a:pPr lvl="1"/>
            <a:r>
              <a:rPr lang="hr-HR" i="1" noProof="0" dirty="0"/>
              <a:t>U usmenom izlaganju samo diskutirajte o glavnim problemima rasporeda i svom iskustvu za njihovo rješavanje (npr. preuzimanje zadataka drugih članova ...)</a:t>
            </a:r>
          </a:p>
          <a:p>
            <a:r>
              <a:rPr lang="hr-HR" noProof="0" dirty="0"/>
              <a:t>Vremenski okvir razvoja (specifikacija, implementacija, testiranje, dokumentacija)</a:t>
            </a:r>
          </a:p>
          <a:p>
            <a:pPr lvl="1"/>
            <a:r>
              <a:rPr lang="hr-HR" noProof="0" dirty="0"/>
              <a:t>Poželjan grafički prikaz</a:t>
            </a:r>
          </a:p>
          <a:p>
            <a:pPr marL="457200" lvl="1" indent="0">
              <a:buNone/>
            </a:pPr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14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28522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9CBA8-11D5-D65F-3F83-F59F385AC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Demonstracija aplikacije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ADC07-223F-0954-0AAD-901A9AD83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Pokazati ključne funkcionalnosti uživo.</a:t>
            </a:r>
          </a:p>
          <a:p>
            <a:r>
              <a:rPr lang="hr-HR" dirty="0"/>
              <a:t>Fokus na izazove i rješenja (1-2 primjera).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6D2D5-F8F8-3548-34C0-61BDD7A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15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208602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/>
              <a:t>Zaključak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noProof="0" dirty="0"/>
              <a:t>Naučene lekcije</a:t>
            </a:r>
          </a:p>
          <a:p>
            <a:pPr lvl="1"/>
            <a:r>
              <a:rPr lang="hr-HR" noProof="0" dirty="0"/>
              <a:t>Što je bilo dobro, a što je moglo bolje</a:t>
            </a:r>
          </a:p>
          <a:p>
            <a:pPr lvl="1"/>
            <a:r>
              <a:rPr lang="hr-HR" noProof="0" dirty="0"/>
              <a:t>A što se nikako ne bi smjelo ponoviti </a:t>
            </a:r>
            <a:r>
              <a:rPr lang="hr-HR" noProof="0" dirty="0">
                <a:sym typeface="Wingdings" panose="05000000000000000000" pitchFamily="2" charset="2"/>
              </a:rPr>
              <a:t></a:t>
            </a:r>
          </a:p>
          <a:p>
            <a:pPr lvl="1"/>
            <a:endParaRPr lang="hr-HR" noProof="0" dirty="0">
              <a:sym typeface="Wingdings" panose="05000000000000000000" pitchFamily="2" charset="2"/>
            </a:endParaRP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16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82593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i="1" noProof="0" dirty="0"/>
              <a:t>Nekoliko savjeta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noProof="0" dirty="0"/>
              <a:t>10-15 slajdova je sasvim dovoljno – istaknite samo najvažnije činjenice</a:t>
            </a:r>
          </a:p>
          <a:p>
            <a:r>
              <a:rPr lang="hr-HR" noProof="0" dirty="0"/>
              <a:t>Prezentaciju možete grafički urediti prema svojem nahođenju uz ograničenja:</a:t>
            </a:r>
          </a:p>
          <a:p>
            <a:pPr lvl="1"/>
            <a:r>
              <a:rPr lang="hr-HR" noProof="0" dirty="0"/>
              <a:t>Obavezan sadržaj naslovne stranice</a:t>
            </a:r>
          </a:p>
          <a:p>
            <a:pPr lvl="1"/>
            <a:r>
              <a:rPr lang="hr-HR" noProof="0" dirty="0"/>
              <a:t>Obavezni brojevi stranica</a:t>
            </a:r>
          </a:p>
          <a:p>
            <a:r>
              <a:rPr lang="hr-HR" b="1" noProof="0" dirty="0"/>
              <a:t>Priprema izlaganja na satu:</a:t>
            </a:r>
          </a:p>
          <a:p>
            <a:pPr lvl="1"/>
            <a:r>
              <a:rPr lang="hr-HR" noProof="0" dirty="0"/>
              <a:t>Pokrenite sve potrebne programe i alate na računalu prije početka Vašeg izlaganja te provjerite kompatibilnost opreme!</a:t>
            </a:r>
          </a:p>
          <a:p>
            <a:pPr lvl="2"/>
            <a:r>
              <a:rPr lang="hr-HR" dirty="0"/>
              <a:t>Standardni HDMI priključak. Eduraom.</a:t>
            </a:r>
            <a:endParaRPr lang="hr-HR" noProof="0" dirty="0"/>
          </a:p>
          <a:p>
            <a:pPr lvl="1"/>
            <a:r>
              <a:rPr lang="pl-PL" dirty="0"/>
              <a:t>Vježbati izlaganje u 15 minuta.</a:t>
            </a:r>
          </a:p>
          <a:p>
            <a:pPr lvl="1"/>
            <a:r>
              <a:rPr lang="hr-HR" b="1" noProof="0" dirty="0"/>
              <a:t>Poštujte zadani vremenski okvir!</a:t>
            </a:r>
          </a:p>
          <a:p>
            <a:endParaRPr lang="hr-HR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A41844-C0CA-4144-9D6C-D993F0C0FAB4}" type="slidenum">
              <a:rPr lang="hr-HR" smtClean="0"/>
              <a:t>17</a:t>
            </a:fld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641737146"/>
      </p:ext>
    </p:extLst>
  </p:cSld>
  <p:clrMapOvr>
    <a:masterClrMapping/>
  </p:clrMapOvr>
</p:sld>
</file>

<file path=ppt/theme/theme1.xml><?xml version="1.0" encoding="utf-8"?>
<a:theme xmlns:a="http://schemas.openxmlformats.org/drawingml/2006/main" name="PROGI-templat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entury Gothic"/>
        <a:ea typeface=""/>
        <a:cs typeface=""/>
      </a:majorFont>
      <a:minorFont>
        <a:latin typeface="Franklin Gothic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I-template.potm" id="{58E78474-FDB4-4359-98C4-259EEF8E4D43}" vid="{A98D19B1-8675-4930-BF13-63F2BBFA5E37}"/>
    </a:ext>
  </a:extLst>
</a:theme>
</file>

<file path=ppt/theme/theme2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01_Uvod_19-1</Template>
  <TotalTime>1263</TotalTime>
  <Words>1029</Words>
  <Application>Microsoft Macintosh PowerPoint</Application>
  <PresentationFormat>On-screen Show (4:3)</PresentationFormat>
  <Paragraphs>173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32" baseType="lpstr">
      <vt:lpstr>ＭＳ Ｐゴシック</vt:lpstr>
      <vt:lpstr>Arial</vt:lpstr>
      <vt:lpstr>Calibri</vt:lpstr>
      <vt:lpstr>Century Gothic</vt:lpstr>
      <vt:lpstr>Courier New</vt:lpstr>
      <vt:lpstr>Franklin Gothic Book</vt:lpstr>
      <vt:lpstr>Franklin Gothic Demi</vt:lpstr>
      <vt:lpstr>Franklin Gothic Medium</vt:lpstr>
      <vt:lpstr>Google Sans Text</vt:lpstr>
      <vt:lpstr>Tahoma</vt:lpstr>
      <vt:lpstr>Times New Roman</vt:lpstr>
      <vt:lpstr>Wingdings</vt:lpstr>
      <vt:lpstr>Wingdings 2</vt:lpstr>
      <vt:lpstr>PROGI-template</vt:lpstr>
      <vt:lpstr>DividendVTI</vt:lpstr>
      <vt:lpstr>STANPLAN</vt:lpstr>
      <vt:lpstr>Sadržaj</vt:lpstr>
      <vt:lpstr>Članovi grupe</vt:lpstr>
      <vt:lpstr>O projektu</vt:lpstr>
      <vt:lpstr>FUNKCIONALNI ZAHTJEVI</vt:lpstr>
      <vt:lpstr>NEFUNKCIONALNI ZAHTJEVI</vt:lpstr>
      <vt:lpstr>UML dijagram obrazaca uporabe</vt:lpstr>
      <vt:lpstr>SEKVENCIJSKI DIJAGRAMI</vt:lpstr>
      <vt:lpstr>Arhitektura sustava</vt:lpstr>
      <vt:lpstr>DIJAGRAM KOMPONENTI</vt:lpstr>
      <vt:lpstr>Dijagram visoke razine</vt:lpstr>
      <vt:lpstr>Ispitivanje</vt:lpstr>
      <vt:lpstr>Korišteni alati i tehnologije</vt:lpstr>
      <vt:lpstr>Organizacija rada</vt:lpstr>
      <vt:lpstr>Demonstracija aplikacije</vt:lpstr>
      <vt:lpstr>Zaključak</vt:lpstr>
      <vt:lpstr>Nekoliko savjeta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&lt;Naziv projekta&gt;</dc:title>
  <dc:creator>nfrid</dc:creator>
  <cp:lastModifiedBy>Diana Agejev</cp:lastModifiedBy>
  <cp:revision>21</cp:revision>
  <dcterms:created xsi:type="dcterms:W3CDTF">2016-01-18T13:10:52Z</dcterms:created>
  <dcterms:modified xsi:type="dcterms:W3CDTF">2026-01-23T09:08:52Z</dcterms:modified>
</cp:coreProperties>
</file>